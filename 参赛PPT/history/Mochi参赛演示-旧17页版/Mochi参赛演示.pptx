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18" Type="http://schemas.openxmlformats.org/officeDocument/2006/relationships/notesMaster" Target="notesMasters/notesMaster1.xml" /><Relationship Id="rId19" Type="http://schemas.openxmlformats.org/officeDocument/2006/relationships/presProps" Target="presProps.xml" /><Relationship Id="rId1" Type="http://schemas.openxmlformats.org/officeDocument/2006/relationships/slide" Target="slides/slide1.xml" /><Relationship Id="rId17" Type="http://schemas.openxmlformats.org/officeDocument/2006/relationships/slide" Target="slides/slide17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position: 'relative', background: '#16211d', overflow: 'hidden' }}&gt;&#10;&#10;    {/* 全幅真实界面铺底 */}&#10;    &lt;Image&#10;        src=&quot;assets/ui-home.png&quot;&#10;        style={{ position: 'absolute', top: 0, left: 0, width: 1280, height: 720, objectFit: 'cover' }}&#10;    /&gt;&#10;&#10;    {/* 深绿蒙版：左重右轻，保证左侧文字可读、右侧界面可辨 */}&#10;    &lt;Box style={{&#10;        position: 'absolute', top: 0, left: 0, width: 1280, height: 720,&#10;        background: 'linear-gradient(100deg, rgba(22,33,29,0.94) 0%, rgba(22,33,29,0.82) 42%, rgba(22,33,29,0.42) 100%)',&#10;    }} /&gt;&#10;&#10;    {/* 内容层 */}&#10;    &lt;Box style={{&#10;        position: 'relative', zIndex: 1,&#10;        width: 1280, height: 720,&#10;        paddingLeft: 96, paddingRight: 96, paddingTop: 96, paddingBottom: 72,&#10;        justifyContent: 'space-between',&#10;    }}&gt;&#10;&#10;        {/* 顶部：赛事标识 */}&#10;        &lt;Box style={{ flexDirection: 'row', alignItems: 'center', gap: 12 }}&gt;&#10;            &lt;Box style={{ width: 10, height: 10, borderRadius: 5, background: '#e8b34b' }} /&gt;&#10;            &lt;Text style={{ fontSize: 16, color: 'rgba(245,242,233,0.62)', letterSpacing: 2 }}&gt;&#10;                嘉祥教育集团 AI 创意实践大赛 · 高中组&#10;            &lt;/Text&gt;&#10;        &lt;/Box&gt;&#10;&#10;        {/* 中部：主标题组 */}&#10;        &lt;Box style={{ flexDirection: 'column', gap: 22, width: 760 }}&gt;&#10;            &lt;Text style={{ fontSize: 88, fontWeight: 'bold', color: '#f5f2e9', lineHeight: 1.1, letterSpacing: -2 }}&gt;&#10;                Mochi&#10;            &lt;/Text&gt;&#10;            &lt;Box style={{ width: 88, height: 4, background: '#e8b34b', borderRadius: 2 }} /&gt;&#10;            &lt;Text style={{ fontSize: 34, fontWeight: 600, color: '#f5f2e9', lineHeight: 1.35 }}&gt;&#10;                跑在校园里的 Agent 协作网络&#10;            &lt;/Text&gt;&#10;            &lt;Text style={{ fontSize: 20, color: 'rgba(245,242,233,0.58)', lineHeight: 1.7 }}&gt;&#10;                老师、学生、医务室、教室设备——各有一个 Mochi，&#10;                &lt;br /&gt;&#10;                它们在同一条校园网络里互相找得到、派得动活、还都听人的。&#10;            &lt;/Text&gt;&#10;        &lt;/Box&gt;&#10;&#10;        {/* 底部：交付信息 */}&#10;        &lt;Box style={{ flexDirection: 'row', alignItems: 'center', gap: 28 }}&gt;&#10;            &lt;Text style={{ fontSize: 16, color: 'rgba(245,242,233,0.5)' }}&gt;&#10;                教师办公 AI Agent&#10;            &lt;/Text&gt;&#10;            &lt;Box style={{ width: 1, height: 14, background: 'rgba(245,242,233,0.22)' }} /&gt;&#10;            &lt;Text style={{ fontSize: 16, color: 'rgba(245,242,233,0.5)' }}&gt;&#10;                Windows / macOS 双平台已交付&#10;            &lt;/Text&gt;&#10;            &lt;Box style={{ width: 1, height: 14, background: 'rgba(245,242,233,0.22)' }} /&gt;&#10;            &lt;Text style={{ fontSize: 16, color: 'rgba(245,242,233,0.5)' }}&gt;&#10;                2026 年 9 月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6041" t="0" r="6041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11D">
                  <a:alpha val="94000"/>
                </a:srgbClr>
              </a:gs>
              <a:gs pos="42000">
                <a:srgbClr val="16211D">
                  <a:alpha val="82000"/>
                </a:srgbClr>
              </a:gs>
              <a:gs pos="100000">
                <a:srgbClr val="16211D">
                  <a:alpha val="42000"/>
                </a:srgbClr>
              </a:gs>
            </a:gsLst>
            <a:lin ang="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914400" y="962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123950" y="91440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200" spc="150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200" spc="150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创意实践大赛</a:t>
            </a:r>
            <a:r>
              <a:rPr lang="en-US" sz="1200" spc="150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150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高中组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2000250"/>
            <a:ext cx="7239000" cy="11144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6600" b="1" spc="-150">
                <a:solidFill>
                  <a:srgbClr val="F5F2E9"/>
                </a:solidFill>
                <a:latin typeface="Microsoft YaHei"/>
                <a:ea typeface="Microsoft YaHei"/>
              </a:rPr>
              <a:t>Mochi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914400" y="3324225"/>
            <a:ext cx="838200" cy="3810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14400" y="3571875"/>
            <a:ext cx="7239000" cy="5334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F5F2E9"/>
                </a:solidFill>
                <a:latin typeface="Microsoft YaHei"/>
                <a:ea typeface="Microsoft YaHei"/>
              </a:rPr>
              <a:t>跑在校园里的</a:t>
            </a:r>
            <a:r>
              <a:rPr lang="en-US" sz="2550" b="1">
                <a:solidFill>
                  <a:srgbClr val="F5F2E9"/>
                </a:solidFill>
                <a:latin typeface="Microsoft YaHei"/>
                <a:ea typeface="Microsoft YaHei"/>
              </a:rPr>
              <a:t> Agent </a:t>
            </a:r>
            <a:r>
              <a:rPr lang="zh-CN" sz="2550" b="1">
                <a:solidFill>
                  <a:srgbClr val="F5F2E9"/>
                </a:solidFill>
                <a:latin typeface="Microsoft YaHei"/>
                <a:ea typeface="Microsoft YaHei"/>
              </a:rPr>
              <a:t>协作网络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4314825"/>
            <a:ext cx="7239000" cy="7810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老师、学生、医务室、教室设备——各有一个</a:t>
            </a:r>
            <a:r>
              <a:rPr lang="en-US" sz="1500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 Mochi</a:t>
            </a:r>
            <a:r>
              <a:rPr lang="zh-CN" sz="1500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70000"/>
              </a:lnSpc>
            </a:pPr>
            <a:r>
              <a:rPr lang="zh-CN" sz="1500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它们在同一条校园网络里互相找得到、派得动活、还都听人的。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4400" y="59817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教师办公</a:t>
            </a: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AI Agent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2419350" y="6010275"/>
            <a:ext cx="9525" cy="133350"/>
          </a:xfrm>
          <a:prstGeom prst="rect">
            <a:avLst/>
          </a:prstGeom>
          <a:solidFill>
            <a:srgbClr val="F5F2E9">
              <a:alpha val="22000"/>
            </a:srgbClr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695575" y="5981700"/>
            <a:ext cx="2219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Windows / macOS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双平台已交付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181600" y="6010275"/>
            <a:ext cx="9525" cy="133350"/>
          </a:xfrm>
          <a:prstGeom prst="rect">
            <a:avLst/>
          </a:prstGeom>
          <a:solidFill>
            <a:srgbClr val="F5F2E9">
              <a:alpha val="22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457825" y="5981700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51" name="" descr="&lt;Slide style={{ width: 1280, height: 720, background: '#16211d', position: 'relative', overflow: 'hidden' }}&gt;&#10;&#10;    &lt;Box style={{&#10;        position: 'relative', zIndex: 1,&#10;        width: 1280, height: 720,&#10;        paddingLeft: 96, paddingRight: 96, paddingTop: 72, paddingBottom: 60,&#10;        flexDirection: 'row', gap: 80,&#10;    }}&gt;&#10;&#10;        {/* 左窄栏 */}&#10;        &lt;Box style={{ width: 280, flexDirection: 'column', gap: 18, justifyContent: 'center' }}&gt;&#10;            &lt;Text style={{ fontSize: 14, color: '#e8b34b', letterSpacing: 5 }}&gt;CONTENTS&lt;/Text&gt;&#10;            &lt;Text style={{ fontSize: 54, fontWeight: 'bold', color: '#f5f2e9', lineHeight: 1.1 }}&gt;&#10;                目录&#10;            &lt;/Text&gt;&#10;            &lt;Box style={{ width: 56, height: 3, background: '#e8b34b', borderRadius: 2 }} /&gt;&#10;            &lt;Text style={{ fontSize: 17, color: 'rgba(245,242,233,0.48)', lineHeight: 1.8 }}&gt;&#10;                四章，回答四个问题：&#10;                &lt;br /&gt;&#10;                为什么做、是什么、&#10;                &lt;br /&gt;&#10;                好在哪、做成了什么。&#10;            &lt;/Text&gt;&#10;        &lt;/Box&gt;&#10;&#10;        {/* 右内容 */}&#10;        &lt;Box style={{ flex: 1, flexDirection: 'column', justifyContent: 'center' }}&gt;&#10;&#10;            &lt;Box style={{ flexDirection: 'row', gap: 26, alignItems: 'flex-start', paddingTop: 20, paddingBottom: 20, borderBottom: '1px solid rgba(245,242,233,0.10)' }}&gt;&#10;                &lt;Text style={{ fontSize: 30, fontWeight: 'bold', color: '#e8b34b', width: 58 }}&gt;01&lt;/Text&gt;&#10;                &lt;Box style={{ flex: 1, flexDirection: 'column', gap: 7 }}&gt;&#10;                    &lt;Text style={{ fontSize: 25, fontWeight: 600, color: '#f5f2e9' }}&gt;问题 · 教师的时间去哪了&lt;/Text&gt;&#10;                    &lt;Text style={{ fontSize: 16, color: 'rgba(245,242,233,0.5)', lineHeight: 1.6 }}&gt;一个班主任的上午，被多少件事切碎&lt;/Text&gt;&#10;                &lt;/Box&gt;&#10;            &lt;/Box&gt;&#10;&#10;            &lt;Box style={{ flexDirection: 'row', gap: 26, alignItems: 'flex-start', paddingTop: 20, paddingBottom: 20, borderBottom: '1px solid rgba(245,242,233,0.10)' }}&gt;&#10;                &lt;Text style={{ fontSize: 30, fontWeight: 'bold', color: '#e8b34b', width: 58 }}&gt;02&lt;/Text&gt;&#10;                &lt;Box style={{ flex: 1, flexDirection: 'column', gap: 7 }}&gt;&#10;                    &lt;Text style={{ fontSize: 25, fontWeight: 600, color: '#f5f2e9' }}&gt;答案 · 一个跑在校园里的 Agent&lt;/Text&gt;&#10;                    &lt;Text style={{ fontSize: 16, color: 'rgba(245,242,233,0.5)', lineHeight: 1.6 }}&gt;Mochi 到底是什么，它凭什么能办事&lt;/Text&gt;&#10;                &lt;/Box&gt;&#10;            &lt;/Box&gt;&#10;&#10;            &lt;Box style={{ flexDirection: 'row', gap: 26, alignItems: 'flex-start', paddingTop: 20, paddingBottom: 20, borderBottom: '1px solid rgba(245,242,233,0.10)' }}&gt;&#10;                &lt;Text style={{ fontSize: 30, fontWeight: 'bold', color: '#e8b34b', width: 58 }}&gt;03&lt;/Text&gt;&#10;                &lt;Box style={{ flex: 1, flexDirection: 'column', gap: 7 }}&gt;&#10;                    &lt;Text style={{ fontSize: 25, fontWeight: 600, color: '#f5f2e9' }}&gt;亮点 · 五个不一样&lt;/Text&gt;&#10;                    &lt;Text style={{ fontSize: 16, color: 'rgba(245,242,233,0.5)', lineHeight: 1.6 }}&gt;和普通教育 Chatbot 之间，那条分界线&lt;/Text&gt;&#10;                &lt;/Box&gt;&#10;            &lt;/Box&gt;&#10;&#10;            &lt;Box style={{ flexDirection: 'row', gap: 26, alignItems: 'flex-start', paddingTop: 20, paddingBottom: 20 }}&gt;&#10;                &lt;Text style={{ fontSize: 30, fontWeight: 'bold', color: '#e8b34b', width: 58 }}&gt;04&lt;/Text&gt;&#10;                &lt;Box style={{ flex: 1, flexDirection: 'column', gap: 7 }}&gt;&#10;                    &lt;Text style={{ fontSize: 25, fontWeight: 600, color: '#f5f2e9' }}&gt;成果 · 真的能装、真的能用&lt;/Text&gt;&#10;                    &lt;Text style={{ fontSize: 16, color: 'rgba(245,242,233,0.5)', lineHeight: 1.6 }}&gt;交付了什么，以及它自己做出了什么&lt;/Text&gt;&#10;                &lt;/Box&gt;&#10;            &lt;/Box&gt;&#10;&#10;        &lt;/Box&gt;&#10;    &lt;/Box&gt;&#10;&#10;    {/* C 区页脚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02 / 1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02 / 17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14400" y="22669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75">
                <a:solidFill>
                  <a:srgbClr val="E8B34B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14400" y="2600325"/>
            <a:ext cx="2667000" cy="6858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050" b="1">
                <a:solidFill>
                  <a:srgbClr val="F5F2E9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914400" y="3457575"/>
            <a:ext cx="533400" cy="28575"/>
          </a:xfrm>
          <a:prstGeom prst="roundRect">
            <a:avLst>
              <a:gd name="adj" fmla="val 66667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14400" y="3657600"/>
            <a:ext cx="2667000" cy="1057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F5F2E9">
                    <a:alpha val="48000"/>
                  </a:srgbClr>
                </a:solidFill>
                <a:latin typeface="Microsoft YaHei"/>
                <a:ea typeface="Microsoft YaHei"/>
              </a:rPr>
              <a:t>四章，回答四个问题：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F5F2E9">
                    <a:alpha val="48000"/>
                  </a:srgbClr>
                </a:solidFill>
                <a:latin typeface="Microsoft YaHei"/>
                <a:ea typeface="Microsoft YaHei"/>
              </a:rPr>
              <a:t>为什么做、是什么、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F5F2E9">
                    <a:alpha val="48000"/>
                  </a:srgbClr>
                </a:solidFill>
                <a:latin typeface="Microsoft YaHei"/>
                <a:ea typeface="Microsoft YaHei"/>
              </a:rPr>
              <a:t>好在哪、做成了什么。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4343400" y="1419225"/>
            <a:ext cx="6934200" cy="1047750"/>
          </a:xfrm>
          <a:custGeom>
            <a:pathLst>
              <a:path w="728" h="110">
                <a:moveTo>
                  <a:pt x="0" y="109"/>
                </a:moveTo>
                <a:lnTo>
                  <a:pt x="728" y="109"/>
                </a:lnTo>
                <a:lnTo>
                  <a:pt x="728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F5F2E9">
              <a:alpha val="10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343400" y="1609725"/>
            <a:ext cx="55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8B34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143500" y="1609725"/>
            <a:ext cx="6134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5F2E9"/>
                </a:solidFill>
                <a:latin typeface="Microsoft YaHei"/>
                <a:ea typeface="Microsoft YaHei"/>
              </a:rPr>
              <a:t>问题</a:t>
            </a:r>
            <a:r>
              <a:rPr lang="en-US" sz="1875" b="1">
                <a:solidFill>
                  <a:srgbClr val="F5F2E9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F5F2E9"/>
                </a:solidFill>
                <a:latin typeface="Microsoft YaHei"/>
                <a:ea typeface="Microsoft YaHei"/>
              </a:rPr>
              <a:t>教师的时间去哪了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143500" y="1962150"/>
            <a:ext cx="6134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一个班主任的上午，被多少件事切碎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343400" y="2457450"/>
            <a:ext cx="6934200" cy="1047750"/>
          </a:xfrm>
          <a:custGeom>
            <a:pathLst>
              <a:path w="728" h="110">
                <a:moveTo>
                  <a:pt x="0" y="109"/>
                </a:moveTo>
                <a:lnTo>
                  <a:pt x="728" y="109"/>
                </a:lnTo>
                <a:lnTo>
                  <a:pt x="728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F5F2E9">
              <a:alpha val="10000"/>
            </a:srgbClr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343400" y="2647950"/>
            <a:ext cx="55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8B34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143500" y="2647950"/>
            <a:ext cx="6134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5F2E9"/>
                </a:solidFill>
                <a:latin typeface="Microsoft YaHei"/>
                <a:ea typeface="Microsoft YaHei"/>
              </a:rPr>
              <a:t>答案</a:t>
            </a:r>
            <a:r>
              <a:rPr lang="en-US" sz="1875" b="1">
                <a:solidFill>
                  <a:srgbClr val="F5F2E9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F5F2E9"/>
                </a:solidFill>
                <a:latin typeface="Microsoft YaHei"/>
                <a:ea typeface="Microsoft YaHei"/>
              </a:rPr>
              <a:t>一个跑在校园里的</a:t>
            </a:r>
            <a:r>
              <a:rPr lang="en-US" sz="1875" b="1">
                <a:solidFill>
                  <a:srgbClr val="F5F2E9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143500" y="3000375"/>
            <a:ext cx="6134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Mochi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到底是什么，它凭什么能办事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343400" y="3495675"/>
            <a:ext cx="6934200" cy="1047750"/>
          </a:xfrm>
          <a:custGeom>
            <a:pathLst>
              <a:path w="728" h="110">
                <a:moveTo>
                  <a:pt x="0" y="109"/>
                </a:moveTo>
                <a:lnTo>
                  <a:pt x="728" y="109"/>
                </a:lnTo>
                <a:lnTo>
                  <a:pt x="728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F5F2E9">
              <a:alpha val="10000"/>
            </a:srgbClr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343400" y="3686175"/>
            <a:ext cx="55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8B34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143500" y="3686175"/>
            <a:ext cx="6134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5F2E9"/>
                </a:solidFill>
                <a:latin typeface="Microsoft YaHei"/>
                <a:ea typeface="Microsoft YaHei"/>
              </a:rPr>
              <a:t>亮点</a:t>
            </a:r>
            <a:r>
              <a:rPr lang="en-US" sz="1875" b="1">
                <a:solidFill>
                  <a:srgbClr val="F5F2E9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F5F2E9"/>
                </a:solidFill>
                <a:latin typeface="Microsoft YaHei"/>
                <a:ea typeface="Microsoft YaHei"/>
              </a:rPr>
              <a:t>五个不一样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143500" y="4038600"/>
            <a:ext cx="6134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和普通教育</a:t>
            </a: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Chatbot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之间，那条分界线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343400" y="4724400"/>
            <a:ext cx="552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8B34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143500" y="4724400"/>
            <a:ext cx="6134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5F2E9"/>
                </a:solidFill>
                <a:latin typeface="Microsoft YaHei"/>
                <a:ea typeface="Microsoft YaHei"/>
              </a:rPr>
              <a:t>成果</a:t>
            </a:r>
            <a:r>
              <a:rPr lang="en-US" sz="1875" b="1">
                <a:solidFill>
                  <a:srgbClr val="F5F2E9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F5F2E9"/>
                </a:solidFill>
                <a:latin typeface="Microsoft YaHei"/>
                <a:ea typeface="Microsoft YaHei"/>
              </a:rPr>
              <a:t>真的能装、真的能用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143500" y="5076825"/>
            <a:ext cx="6134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交付了什么，以及它自己做出了什么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5" name="" descr="&lt;Slide style={{ width: 1280, height: 720, background: '#16211d', position: 'relative', overflow: 'hidden' }}&gt;&#10;&#10;    {/* 右侧同心弧纹样 */}&#10;    &lt;Box style={{ position: 'absolute', top: 0, right: 0, width: 560, height: 720 }}&gt;&#10;        &lt;svg width={560} height={720} viewBox='0 0 560 720'&gt;&#10;            &lt;circle cx='560' cy='360' r='130' fill='none' stroke='rgba(232,179,75,0.20)' strokeWidth='1' /&gt;&#10;            &lt;circle cx='560' cy='360' r='215' fill='none' stroke='rgba(232,179,75,0.13)' strokeWidth='1' /&gt;&#10;            &lt;circle cx='560' cy='360' r='305' fill='none' stroke='rgba(232,179,75,0.08)' strokeWidth='1' /&gt;&#10;            &lt;circle cx='560' cy='360' r='400' fill='none' stroke='rgba(232,179,75,0.04)' strokeWidth='1' /&gt;&#10;        &lt;/svg&gt;&#10;    &lt;/Box&gt;&#10;&#10;    {/* 左侧竖向焦糖细线 */}&#10;    &lt;Box style={{ position: 'absolute', left: 96, top: 180, width: 2, height: 360, background: 'linear-gradient(180deg, rgba(232,179,75,0.65) 0%, rgba(232,179,75,0.05) 100%)' }} /&gt;&#10;&#10;    &lt;Box style={{&#10;        position: 'relative', zIndex: 1,&#10;        width: 1280, height: 720,&#10;        paddingLeft: 152, paddingRight: 96,&#10;        justifyContent: 'center', gap: 28,&#10;    }}&gt;&#10;        &lt;Text style={{ fontSize: 15, color: '#e8b34b', letterSpacing: 6 }}&gt;01 / 问题&lt;/Text&gt;&#10;        &lt;Text style={{ fontSize: 72, fontWeight: 'bold', color: '#f5f2e9', lineHeight: 1.15, letterSpacing: -1 }}&gt;&#10;            教师的时间，&#10;            &lt;br /&gt;&#10;            被切碎了&#10;        &lt;/Text&gt;&#10;        &lt;Text style={{ fontSize: 20, color: 'rgba(245,242,233,0.55)', lineHeight: 1.8, width: 660 }}&gt;&#10;            跑腿、传话、找材料、催审批——每一件都不难，&#10;            &lt;br /&gt;&#10;            加起来却占掉一整个上午。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178" name=""/>
          <p:cNvSpPr/>
          <p:nvPr/>
        </p:nvSpPr>
        <p:spPr>
          <a:xfrm rot="0" flipH="0" flipV="0">
            <a:off x="914400" y="1714500"/>
            <a:ext cx="19050" cy="3429000"/>
          </a:xfrm>
          <a:prstGeom prst="rect">
            <a:avLst/>
          </a:prstGeom>
          <a:gradFill>
            <a:gsLst>
              <a:gs pos="0">
                <a:srgbClr val="E8B34B">
                  <a:alpha val="65000"/>
                </a:srgbClr>
              </a:gs>
              <a:gs pos="100000">
                <a:srgbClr val="E8B34B">
                  <a:alpha val="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447800" y="1714500"/>
            <a:ext cx="982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E8B34B"/>
                </a:solidFill>
                <a:latin typeface="Microsoft YaHei"/>
                <a:ea typeface="Microsoft YaHei"/>
              </a:rPr>
              <a:t>01 / </a:t>
            </a:r>
            <a:r>
              <a:rPr lang="zh-CN" sz="1125" spc="450">
                <a:solidFill>
                  <a:srgbClr val="E8B34B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447800" y="2152650"/>
            <a:ext cx="9829800" cy="1895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 spc="-75">
                <a:solidFill>
                  <a:srgbClr val="F5F2E9"/>
                </a:solidFill>
                <a:latin typeface="Microsoft YaHei"/>
                <a:ea typeface="Microsoft YaHei"/>
              </a:rPr>
              <a:t>教师的时间，</a:t>
            </a:r>
            <a:endParaRPr/>
          </a:p>
          <a:p>
            <a:pPr>
              <a:lnSpc>
                <a:spcPct val="114999"/>
              </a:lnSpc>
            </a:pPr>
            <a:r>
              <a:rPr lang="zh-CN" sz="5400" b="1" spc="-75">
                <a:solidFill>
                  <a:srgbClr val="F5F2E9"/>
                </a:solidFill>
                <a:latin typeface="Microsoft YaHei"/>
                <a:ea typeface="Microsoft YaHei"/>
              </a:rPr>
              <a:t>被切碎了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447800" y="4314825"/>
            <a:ext cx="6286500" cy="8286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跑腿、传话、找材料、催审批——每一件都不难，</a:t>
            </a:r>
            <a:endParaRPr/>
          </a:p>
          <a:p>
            <a:pPr>
              <a:lnSpc>
                <a:spcPct val="180000"/>
              </a:lnSpc>
            </a:pP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加起来却占掉一整个上午。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 descr="&lt;Slide style={{ width: 1280, height: 720, background: '#16211d', position: 'relative', overflow: 'hidden' }}&gt;&#10;&#10;    {/* A 区 · 标题块 */}&#10;    &lt;Box style={{ height: 120, paddingLeft: 96, paddingRight: 96, paddingTop: 20, justifyContent: 'center' }}&gt;&#10;        &lt;Box style={{ flexDirection: 'row', alignItems: 'center', gap: 18 }}&gt;&#10;            &lt;Text style={{ fontSize: 15, color: '#e8b34b', letterSpacing: 3 }}&gt;01&lt;/Text&gt;&#10;            &lt;Text style={{ fontSize: 36, fontWeight: 'bold', color: '#f5f2e9' }}&gt;谁在外面，谁没回来&lt;/Text&gt;&#10;        &lt;/Box&gt;&#10;    &lt;/Box&gt;&#10;&#10;    {/* B 区 · 内容区 */}&#10;    &lt;Box style={{&#10;        height: 540, paddingLeft: 96, paddingRight: 96,&#10;        flexDirection: 'row', gap: 44, alignItems: 'center',&#10;    }}&gt;&#10;&#10;        {/* 宽侧：真实界面截图 */}&#10;        &lt;Box style={{ flexDirection: 'column', gap: 12 }}&gt;&#10;            &lt;Box style={{&#10;                width: 648, height: 364,&#10;                borderRadius: 12, overflow: 'hidden',&#10;                border: '1px solid rgba(245,242,233,0.14)',&#10;                boxShadow: '0 8px 32px rgba(0,0,0,0.35)',&#10;            }}&gt;&#10;                &lt;Image src=&quot;assets/ui-student-query.png&quot; style={{ width: 648, height: 364, objectFit: 'cover' }} /&gt;&#10;            &lt;/Box&gt;&#10;            &lt;Text style={{ fontSize: 14, color: 'rgba(245,242,233,0.4)' }}&gt;&#10;                真实界面：一句话问出全班外出状态，数据来自校园系统&#10;            &lt;/Text&gt;&#10;        &lt;/Box&gt;&#10;&#10;        {/* 窄侧：四类事务 + 判断落点 */}&#10;        &lt;Box style={{ flex: 1, flexDirection: 'column', gap: 15 }}&gt;&#10;&#10;            &lt;Box style={{ flexDirection: 'column', gap: 5 }}&gt;&#10;                &lt;Text style={{ fontSize: 19, fontWeight: 600, color: '#f5f2e9' }}&gt;一句话问全班去向&lt;/Text&gt;&#10;                &lt;Text style={{ fontSize: 15, color: 'rgba(245,242,233,0.5)', lineHeight: 1.6 }}&gt;「有没有学生外出超时还没返班」——它列出 4 个名字、状态和出行原因&lt;/Text&gt;&#10;            &lt;/Box&gt;&#10;&#10;            &lt;Box style={{ flexDirection: 'column', gap: 5 }}&gt;&#10;                &lt;Text style={{ fontSize: 19, fontWeight: 600, color: '#f5f2e9' }}&gt;工具真的去查了&lt;/Text&gt;&#10;                &lt;Text style={{ fontSize: 15, color: 'rgba(245,242,233,0.5)', lineHeight: 1.6 }}&gt;调用校园接口取实时流动单，不是凭印象编一个听起来合理的答案&lt;/Text&gt;&#10;            &lt;/Box&gt;&#10;&#10;            &lt;Box style={{ flexDirection: 'column', gap: 5 }}&gt;&#10;                &lt;Text style={{ fontSize: 19, fontWeight: 600, color: '#f5f2e9' }}&gt;异常会被主动点出&lt;/Text&gt;&#10;                &lt;Text style={{ fontSize: 15, color: 'rgba(245,242,233,0.5)', lineHeight: 1.6 }}&gt;林小禾近期多次就医记录，是它自己发现并提示「建议关注」&lt;/Text&gt;&#10;            &lt;/Box&gt;&#10;&#10;            &lt;Box style={{ flexDirection: 'column', gap: 5 }}&gt;&#10;                &lt;Text style={{ fontSize: 19, fontWeight: 600, color: '#f5f2e9' }}&gt;查完能直接往下做&lt;/Text&gt;&#10;                &lt;Text style={{ fontSize: 15, color: 'rgba(245,242,233,0.5)', lineHeight: 1.6 }}&gt;「需要我联系相关老师吗」——从查状态到处置，不用换系统&lt;/Text&gt;&#10;            &lt;/Box&gt;&#10;&#10;            &lt;Box style={{ height: 1, background: 'rgba(245,242,233,0.12)', marginTop: 6 }} /&gt;&#10;&#10;            &lt;Text style={{ fontSize: 16, color: '#e8b34b', lineHeight: 1.75 }}&gt;&#10;                原本要打三个电话、翻两张表。现在一句话，而且每个数字都能点开查证。&#10;            &lt;/Text&gt;&#10;&#10;        &lt;/Box&gt;&#10;    &lt;/Box&gt;&#10;&#10;    {/* C 区 · 页脚条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0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14400" y="5810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B34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304925" y="4572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5F2E9"/>
                </a:solidFill>
                <a:latin typeface="Microsoft YaHei"/>
                <a:ea typeface="Microsoft YaHei"/>
              </a:rPr>
              <a:t>谁在外面，谁没回来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914400" y="1847850"/>
            <a:ext cx="6172200" cy="3467100"/>
          </a:xfrm>
          <a:prstGeom prst="roundRect">
            <a:avLst>
              <a:gd name="adj" fmla="val 3297"/>
            </a:avLst>
          </a:prstGeom>
          <a:ln w="12700">
            <a:solidFill>
              <a:srgbClr val="F5F2E9">
                <a:alpha val="14000"/>
              </a:srgbClr>
            </a:solidFill>
            <a:prstDash val="solid"/>
          </a:ln>
          <a:effectLst>
            <a:outerShdw blurRad="304800" dist="762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187" name=""/>
          <p:cNvPicPr>
            <a:picLocks noChangeAspect="1"/>
          </p:cNvPicPr>
          <p:nvPr/>
        </p:nvPicPr>
        <p:blipFill>
          <a:blip r:embed="rId1"/>
          <a:srcRect l="0" t="68" r="0" b="68"/>
          <a:stretch>
            <a:fillRect/>
          </a:stretch>
        </p:blipFill>
        <p:spPr>
          <a:xfrm rot="0" flipH="0" flipV="0">
            <a:off x="914400" y="1847850"/>
            <a:ext cx="6172200" cy="3467100"/>
          </a:xfrm>
          <a:custGeom>
            <a:pathLst>
              <a:path w="648" h="364">
                <a:moveTo>
                  <a:pt x="636" y="0"/>
                </a:moveTo>
                <a:cubicBezTo>
                  <a:pt x="643" y="0"/>
                  <a:pt x="648" y="5"/>
                  <a:pt x="648" y="12"/>
                </a:cubicBezTo>
                <a:lnTo>
                  <a:pt x="648" y="352"/>
                </a:lnTo>
                <a:cubicBezTo>
                  <a:pt x="648" y="359"/>
                  <a:pt x="643" y="364"/>
                  <a:pt x="636" y="364"/>
                </a:cubicBezTo>
                <a:lnTo>
                  <a:pt x="12" y="364"/>
                </a:lnTo>
                <a:cubicBezTo>
                  <a:pt x="5" y="364"/>
                  <a:pt x="0" y="359"/>
                  <a:pt x="0" y="35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36" y="0"/>
                </a:lnTo>
                <a:close/>
              </a:path>
            </a:pathLst>
          </a:custGeom>
          <a:ln/>
        </p:spPr>
      </p:pic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14400" y="5429250"/>
            <a:ext cx="617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真实界面：一句话问出全班外出状态，数据来自校园系统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7505700" y="2076450"/>
            <a:ext cx="3771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一句话问全班去向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505700" y="2343150"/>
            <a:ext cx="3771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「有没有学生外出超时还没返班」——它列出</a:t>
            </a:r>
            <a:r>
              <a:rPr lang="en-US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个名字、状态和出行原因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505700" y="3038475"/>
            <a:ext cx="3771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工具真的去查了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505700" y="3305175"/>
            <a:ext cx="3771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调用校园接口取实时流动单，不是凭印象编一个听起来合理的答案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505700" y="4000500"/>
            <a:ext cx="3771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异常会被主动点出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505700" y="4267200"/>
            <a:ext cx="3771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林小禾近期多次就医记录，是它自己发现并提示「建议关注」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505700" y="4962525"/>
            <a:ext cx="3771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查完能直接往下做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505700" y="5229225"/>
            <a:ext cx="3771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「需要我联系相关老师吗」——从查状态到处置，不用换系统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7505700" y="5981700"/>
            <a:ext cx="3771900" cy="9525"/>
          </a:xfrm>
          <a:prstGeom prst="rect">
            <a:avLst/>
          </a:prstGeom>
          <a:solidFill>
            <a:srgbClr val="F5F2E9">
              <a:alpha val="12000"/>
            </a:srgbClr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505700" y="6134100"/>
            <a:ext cx="37719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原本要打三个电话、翻两张表。现在一句话，而且每个数字都能点开查证。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2" name="" descr="&lt;Slide style={{ width: 1280, height: 720, background: '#16211d', position: 'relative', overflow: 'hidden' }}&gt;&#10;&#10;    {/* 右侧斜线纹样（与 03 的同心弧形成区分） */}&#10;    &lt;Box style={{ position: 'absolute', top: 0, right: 0, width: 600, height: 720 }}&gt;&#10;        &lt;svg width={600} height={720} viewBox='0 0 600 720'&gt;&#10;            &lt;line x1='180' y1='0' x2='600' y2='560' stroke='rgba(232,179,75,0.14)' strokeWidth='1' /&gt;&#10;            &lt;line x1='280' y1='0' x2='600' y2='430' stroke='rgba(232,179,75,0.10)' strokeWidth='1' /&gt;&#10;            &lt;line x1='380' y1='0' x2='600' y2='300' stroke='rgba(232,179,75,0.07)' strokeWidth='1' /&gt;&#10;            &lt;line x1='480' y1='0' x2='600' y2='170' stroke='rgba(232,179,75,0.05)' strokeWidth='1' /&gt;&#10;        &lt;/svg&gt;&#10;    &lt;/Box&gt;&#10;&#10;    {/* 左侧竖向焦糖细线 */}&#10;    &lt;Box style={{ position: 'absolute', left: 96, top: 180, width: 2, height: 360, background: 'linear-gradient(180deg, rgba(232,179,75,0.65) 0%, rgba(232,179,75,0.05) 100%)' }} /&gt;&#10;&#10;    &lt;Box style={{&#10;        position: 'relative', zIndex: 1,&#10;        width: 1280, height: 720,&#10;        paddingLeft: 152, paddingRight: 96,&#10;        justifyContent: 'center', gap: 28,&#10;    }}&gt;&#10;        &lt;Text style={{ fontSize: 15, color: '#e8b34b', letterSpacing: 6 }}&gt;02 / 答案&lt;/Text&gt;&#10;        &lt;Text style={{ fontSize: 72, fontWeight: 'bold', color: '#f5f2e9', lineHeight: 1.15, letterSpacing: -1 }}&gt;&#10;            不是聊天框，&#10;            &lt;br /&gt;&#10;            是一个 Agent 网络&#10;        &lt;/Text&gt;&#10;        &lt;Text style={{ fontSize: 20, color: 'rgba(245,242,233,0.55)', lineHeight: 1.8, width: 700 }}&gt;&#10;            老师、学生、医务室、教室设备——各有一个 Mochi，&#10;            &lt;br /&gt;&#10;            它们互相找得到、派得动活，而且都听人的。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pic>
        <p:nvPicPr>
          <p:cNvPr id="2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77000" y="0"/>
            <a:ext cx="5715000" cy="6858000"/>
          </a:xfrm>
          <a:prstGeom prst="rect">
            <a:avLst/>
          </a:prstGeom>
          <a:ln/>
        </p:spPr>
      </p:pic>
      <p:sp>
        <p:nvSpPr>
          <p:cNvPr id="205" name=""/>
          <p:cNvSpPr/>
          <p:nvPr/>
        </p:nvSpPr>
        <p:spPr>
          <a:xfrm rot="0" flipH="0" flipV="0">
            <a:off x="914400" y="1714500"/>
            <a:ext cx="19050" cy="3429000"/>
          </a:xfrm>
          <a:prstGeom prst="rect">
            <a:avLst/>
          </a:prstGeom>
          <a:gradFill>
            <a:gsLst>
              <a:gs pos="0">
                <a:srgbClr val="E8B34B">
                  <a:alpha val="65000"/>
                </a:srgbClr>
              </a:gs>
              <a:gs pos="100000">
                <a:srgbClr val="E8B34B">
                  <a:alpha val="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447800" y="1714500"/>
            <a:ext cx="982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E8B34B"/>
                </a:solidFill>
                <a:latin typeface="Microsoft YaHei"/>
                <a:ea typeface="Microsoft YaHei"/>
              </a:rPr>
              <a:t>02 / </a:t>
            </a:r>
            <a:r>
              <a:rPr lang="zh-CN" sz="1125" spc="450">
                <a:solidFill>
                  <a:srgbClr val="E8B34B"/>
                </a:solidFill>
                <a:latin typeface="Microsoft YaHei"/>
                <a:ea typeface="Microsoft YaHei"/>
              </a:rPr>
              <a:t>答案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447800" y="2152650"/>
            <a:ext cx="9829800" cy="1895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 spc="-75">
                <a:solidFill>
                  <a:srgbClr val="F5F2E9"/>
                </a:solidFill>
                <a:latin typeface="Microsoft YaHei"/>
                <a:ea typeface="Microsoft YaHei"/>
              </a:rPr>
              <a:t>不是聊天框，</a:t>
            </a:r>
            <a:endParaRPr/>
          </a:p>
          <a:p>
            <a:pPr>
              <a:lnSpc>
                <a:spcPct val="114999"/>
              </a:lnSpc>
            </a:pPr>
            <a:r>
              <a:rPr lang="zh-CN" sz="5400" b="1" spc="-75">
                <a:solidFill>
                  <a:srgbClr val="F5F2E9"/>
                </a:solidFill>
                <a:latin typeface="Microsoft YaHei"/>
                <a:ea typeface="Microsoft YaHei"/>
              </a:rPr>
              <a:t>是一个</a:t>
            </a:r>
            <a:r>
              <a:rPr lang="en-US" sz="5400" b="1" spc="-75">
                <a:solidFill>
                  <a:srgbClr val="F5F2E9"/>
                </a:solidFill>
                <a:latin typeface="Microsoft YaHei"/>
                <a:ea typeface="Microsoft YaHei"/>
              </a:rPr>
              <a:t> Agent </a:t>
            </a:r>
            <a:r>
              <a:rPr lang="zh-CN" sz="5400" b="1" spc="-75">
                <a:solidFill>
                  <a:srgbClr val="F5F2E9"/>
                </a:solidFill>
                <a:latin typeface="Microsoft YaHei"/>
                <a:ea typeface="Microsoft YaHei"/>
              </a:rPr>
              <a:t>网络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447800" y="4314825"/>
            <a:ext cx="6667500" cy="8286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老师、学生、医务室、教室设备——各有一个</a:t>
            </a:r>
            <a:r>
              <a:rPr lang="en-US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Mochi</a:t>
            </a: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80000"/>
              </a:lnSpc>
            </a:pP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它们互相找得到、派得动活，而且都听人的。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 descr="&lt;Slide style={{ width: 1280, height: 720, background: '#16211d', position: 'relative', overflow: 'hidden' }}&gt;&#10;&#10;    {/* A 区 · 标题块 */}&#10;    &lt;Box style={{ height: 120, paddingLeft: 96, paddingRight: 96, paddingTop: 20, justifyContent: 'center' }}&gt;&#10;        &lt;Text style={{ fontSize: 36, fontWeight: 'bold', color: '#f5f2e9' }}&gt;Mochi 是什么&lt;/Text&gt;&#10;    &lt;/Box&gt;&#10;&#10;    {/* B 区 · 内容区 */}&#10;    &lt;Box style={{&#10;        height: 540, paddingLeft: 96, paddingRight: 96,&#10;        flexDirection: 'row', gap: 48, alignItems: 'center',&#10;    }}&gt;&#10;&#10;        {/* 左大图 58% */}&#10;        &lt;Box style={{ flexDirection: 'column', gap: 14 }}&gt;&#10;            &lt;Box style={{&#10;                width: 624, height: 330,&#10;                borderRadius: 12, overflow: 'hidden',&#10;                border: '1px solid rgba(245,242,233,0.14)',&#10;                boxShadow: '0 8px 32px rgba(0,0,0,0.35)',&#10;            }}&gt;&#10;                &lt;Image src=&quot;assets/ui-commands.png&quot; style={{ width: 624, height: 330, objectFit: 'cover' }} /&gt;&#10;            &lt;/Box&gt;&#10;            &lt;Text style={{ fontSize: 14, color: 'rgba(245,242,233,0.4)' }}&gt;&#10;                真实界面：在输入框里用指令唤起 Mochi 的能力&#10;            &lt;/Text&gt;&#10;        &lt;/Box&gt;&#10;&#10;        {/* 右侧文字 */}&#10;        &lt;Box style={{ flex: 1, flexDirection: 'column', gap: 18 }}&gt;&#10;&#10;            &lt;Box style={{ flexDirection: 'row', gap: 14, alignItems: 'flex-start' }}&gt;&#10;                &lt;Box style={{ width: 8, height: 8, borderRadius: 4, background: '#e8b34b', marginTop: 9 }} /&gt;&#10;                &lt;Box style={{ flex: 1, flexDirection: 'column', gap: 5 }}&gt;&#10;                    &lt;Text style={{ fontSize: 20, fontWeight: 600, color: '#f5f2e9' }}&gt;它是老师桌面上的一个 App&lt;/Text&gt;&#10;                    &lt;Text style={{ fontSize: 15, color: 'rgba(245,242,233,0.5)', lineHeight: 1.65 }}&gt;双击就打开，不需要装开发环境，不需要开终端&lt;/Text&gt;&#10;                &lt;/Box&gt;&#10;            &lt;/Box&gt;&#10;&#10;            &lt;Box style={{ flexDirection: 'row', gap: 14, alignItems: 'flex-start' }}&gt;&#10;                &lt;Box style={{ width: 8, height: 8, borderRadius: 4, background: '#e8b34b', marginTop: 9 }} /&gt;&#10;                &lt;Box style={{ flex: 1, flexDirection: 'column', gap: 5 }}&gt;&#10;                    &lt;Text style={{ fontSize: 20, fontWeight: 600, color: '#f5f2e9' }}&gt;它会调用校园系统里的真实工具&lt;/Text&gt;&#10;                    &lt;Text style={{ fontSize: 15, color: 'rgba(245,242,233,0.5)', lineHeight: 1.65 }}&gt;查学生状态、开流动单、发通知——不是在对话里&quot;模拟&quot;一遍&lt;/Text&gt;&#10;                &lt;/Box&gt;&#10;            &lt;/Box&gt;&#10;&#10;            &lt;Box style={{ flexDirection: 'row', gap: 14, alignItems: 'flex-start' }}&gt;&#10;                &lt;Box style={{ width: 8, height: 8, borderRadius: 4, background: '#e8b34b', marginTop: 9 }} /&gt;&#10;                &lt;Box style={{ flex: 1, flexDirection: 'column', gap: 5 }}&gt;&#10;                    &lt;Text style={{ fontSize: 20, fontWeight: 600, color: '#f5f2e9' }}&gt;敏感操作必须老师点确认&lt;/Text&gt;&#10;                    &lt;Text style={{ fontSize: 15, color: 'rgba(245,242,233,0.5)', lineHeight: 1.65 }}&gt;AI 可以提议，但最终由人拍板——每一步都留痕&lt;/Text&gt;&#10;                &lt;/Box&gt;&#10;            &lt;/Box&gt;&#10;&#10;            &lt;Box style={{ height: 1, background: 'rgba(245,242,233,0.12)', marginTop: 2 }} /&gt;&#10;&#10;            &lt;Text style={{ fontSize: 16, color: '#e8b34b', lineHeight: 1.75 }}&gt;&#10;                所以关键不是&quot;它能聊天&quot;，而是&quot;它能办事，并且有人把关&quot;。&#10;            &lt;/Text&gt;&#10;&#10;        &lt;/Box&gt;&#10;    &lt;/Box&gt;&#10;&#10;    {/* C 区 · 页脚条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06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14400" y="457200"/>
            <a:ext cx="1036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5F2E9"/>
                </a:solidFill>
                <a:latin typeface="Microsoft YaHei"/>
                <a:ea typeface="Microsoft YaHei"/>
              </a:rPr>
              <a:t>Mochi </a:t>
            </a:r>
            <a:r>
              <a:rPr lang="zh-CN" sz="2700" b="1">
                <a:solidFill>
                  <a:srgbClr val="F5F2E9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914400" y="2000250"/>
            <a:ext cx="5943600" cy="3143250"/>
          </a:xfrm>
          <a:prstGeom prst="roundRect">
            <a:avLst>
              <a:gd name="adj" fmla="val 3636"/>
            </a:avLst>
          </a:prstGeom>
          <a:ln w="12700">
            <a:solidFill>
              <a:srgbClr val="F5F2E9">
                <a:alpha val="14000"/>
              </a:srgbClr>
            </a:solidFill>
            <a:prstDash val="solid"/>
          </a:ln>
          <a:effectLst>
            <a:outerShdw blurRad="304800" dist="762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213" name=""/>
          <p:cNvPicPr>
            <a:picLocks noChangeAspect="1"/>
          </p:cNvPicPr>
          <p:nvPr/>
        </p:nvPicPr>
        <p:blipFill>
          <a:blip r:embed="rId1"/>
          <a:srcRect l="3244" t="0" r="3244" b="0"/>
          <a:stretch>
            <a:fillRect/>
          </a:stretch>
        </p:blipFill>
        <p:spPr>
          <a:xfrm rot="0" flipH="0" flipV="0">
            <a:off x="914400" y="2000250"/>
            <a:ext cx="5943600" cy="3143250"/>
          </a:xfrm>
          <a:custGeom>
            <a:pathLst>
              <a:path w="624" h="330">
                <a:moveTo>
                  <a:pt x="612" y="0"/>
                </a:moveTo>
                <a:cubicBezTo>
                  <a:pt x="619" y="0"/>
                  <a:pt x="624" y="5"/>
                  <a:pt x="624" y="12"/>
                </a:cubicBezTo>
                <a:lnTo>
                  <a:pt x="624" y="318"/>
                </a:lnTo>
                <a:cubicBezTo>
                  <a:pt x="624" y="325"/>
                  <a:pt x="619" y="330"/>
                  <a:pt x="612" y="330"/>
                </a:cubicBezTo>
                <a:lnTo>
                  <a:pt x="12" y="330"/>
                </a:lnTo>
                <a:cubicBezTo>
                  <a:pt x="5" y="330"/>
                  <a:pt x="0" y="325"/>
                  <a:pt x="0" y="31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12" y="0"/>
                </a:lnTo>
                <a:close/>
              </a:path>
            </a:pathLst>
          </a:cu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14400" y="5276850"/>
            <a:ext cx="594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真实界面：在输入框里用指令唤起</a:t>
            </a:r>
            <a:r>
              <a:rPr lang="en-US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 Mochi </a:t>
            </a:r>
            <a:r>
              <a:rPr lang="zh-CN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的能力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315200" y="2438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524750" y="2352675"/>
            <a:ext cx="3752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F2E9"/>
                </a:solidFill>
                <a:latin typeface="Microsoft YaHei"/>
                <a:ea typeface="Microsoft YaHei"/>
              </a:rPr>
              <a:t>它是老师桌面上的一个</a:t>
            </a:r>
            <a:r>
              <a:rPr lang="en-US" sz="1500" b="1">
                <a:solidFill>
                  <a:srgbClr val="F5F2E9"/>
                </a:solidFill>
                <a:latin typeface="Microsoft YaHei"/>
                <a:ea typeface="Microsoft YaHei"/>
              </a:rPr>
              <a:t> App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524750" y="2628900"/>
            <a:ext cx="37528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双击就打开，不需要装开发环境，不需要开终端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7315200" y="3171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524750" y="3086100"/>
            <a:ext cx="3752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F2E9"/>
                </a:solidFill>
                <a:latin typeface="Microsoft YaHei"/>
                <a:ea typeface="Microsoft YaHei"/>
              </a:rPr>
              <a:t>它会调用校园系统里的真实工具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524750" y="3362325"/>
            <a:ext cx="3752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查学生状态、开流动单、发通知——不是在对话里</a:t>
            </a:r>
            <a:r>
              <a:rPr lang="en-US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模拟</a:t>
            </a:r>
            <a:r>
              <a:rPr lang="en-US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一遍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315200" y="4191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524750" y="4105275"/>
            <a:ext cx="3752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F2E9"/>
                </a:solidFill>
                <a:latin typeface="Microsoft YaHei"/>
                <a:ea typeface="Microsoft YaHei"/>
              </a:rPr>
              <a:t>敏感操作必须老师点确认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524750" y="4381500"/>
            <a:ext cx="37528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可以提议，但最终由人拍板——每一步都留痕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7315200" y="4857750"/>
            <a:ext cx="3962400" cy="9525"/>
          </a:xfrm>
          <a:prstGeom prst="rect">
            <a:avLst/>
          </a:prstGeom>
          <a:solidFill>
            <a:srgbClr val="F5F2E9">
              <a:alpha val="12000"/>
            </a:srgbClr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315200" y="5038725"/>
            <a:ext cx="3962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所以关键不是</a:t>
            </a:r>
            <a:r>
              <a:rPr lang="en-US" sz="1200">
                <a:solidFill>
                  <a:srgbClr val="E8B3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它能聊天</a:t>
            </a:r>
            <a:r>
              <a:rPr lang="en-US" sz="1200">
                <a:solidFill>
                  <a:srgbClr val="E8B3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，而是</a:t>
            </a:r>
            <a:r>
              <a:rPr lang="en-US" sz="1200">
                <a:solidFill>
                  <a:srgbClr val="E8B3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它能办事，并且有人把关</a:t>
            </a:r>
            <a:r>
              <a:rPr lang="en-US" sz="1200">
                <a:solidFill>
                  <a:srgbClr val="E8B3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29" name="" descr="&lt;Slide style={{ width: 1280, height: 720, background: '#16211d', position: 'relative', overflow: 'hidden' }}&gt;&#10;&#10;    {/* 巨型章节编号 */}&#10;    &lt;Box style={{ position: 'absolute', right: 40, top: 80 }}&gt;&#10;        &lt;Text style={{ fontSize: 400, fontWeight: 'bold', color: 'rgba(232,179,75,0.10)', lineHeight: 1, letterSpacing: -10 }}&gt;&#10;            03&#10;        &lt;/Text&gt;&#10;    &lt;/Box&gt;&#10;&#10;    {/* 左侧竖向焦糖细线 */}&#10;    &lt;Box style={{ position: 'absolute', left: 96, top: 180, width: 2, height: 360, background: 'linear-gradient(180deg, rgba(232,179,75,0.65) 0%, rgba(232,179,75,0.05) 100%)' }} /&gt;&#10;&#10;    &lt;Box style={{&#10;        position: 'relative', zIndex: 1,&#10;        width: 1280, height: 720,&#10;        paddingLeft: 152, paddingRight: 96,&#10;        justifyContent: 'center', gap: 28,&#10;    }}&gt;&#10;        &lt;Text style={{ fontSize: 15, color: '#e8b34b', letterSpacing: 6 }}&gt;03 / 亮点&lt;/Text&gt;&#10;        &lt;Text style={{ fontSize: 72, fontWeight: 'bold', color: '#f5f2e9', lineHeight: 1.15, letterSpacing: -1 }}&gt;&#10;            五个不一样&#10;        &lt;/Text&gt;&#10;        &lt;Text style={{ fontSize: 20, color: 'rgba(245,242,233,0.55)', lineHeight: 1.8, width: 660 }}&gt;&#10;            和市面上任何一个教育 Chatbot，&#10;            &lt;br /&gt;&#10;            都不太一样的地方。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762875" y="762000"/>
            <a:ext cx="4048125" cy="457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0" b="1" spc="-750">
                <a:solidFill>
                  <a:srgbClr val="E8B34B">
                    <a:alpha val="10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914400" y="1714500"/>
            <a:ext cx="19050" cy="3429000"/>
          </a:xfrm>
          <a:prstGeom prst="rect">
            <a:avLst/>
          </a:prstGeom>
          <a:gradFill>
            <a:gsLst>
              <a:gs pos="0">
                <a:srgbClr val="E8B34B">
                  <a:alpha val="65000"/>
                </a:srgbClr>
              </a:gs>
              <a:gs pos="100000">
                <a:srgbClr val="E8B34B">
                  <a:alpha val="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447800" y="2190750"/>
            <a:ext cx="982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E8B34B"/>
                </a:solidFill>
                <a:latin typeface="Microsoft YaHei"/>
                <a:ea typeface="Microsoft YaHei"/>
              </a:rPr>
              <a:t>03 / </a:t>
            </a:r>
            <a:r>
              <a:rPr lang="zh-CN" sz="1125" spc="450">
                <a:solidFill>
                  <a:srgbClr val="E8B34B"/>
                </a:solidFill>
                <a:latin typeface="Microsoft YaHei"/>
                <a:ea typeface="Microsoft YaHei"/>
              </a:rPr>
              <a:t>亮点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447800" y="2628900"/>
            <a:ext cx="9829800" cy="9525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 spc="-75">
                <a:solidFill>
                  <a:srgbClr val="F5F2E9"/>
                </a:solidFill>
                <a:latin typeface="Microsoft YaHei"/>
                <a:ea typeface="Microsoft YaHei"/>
              </a:rPr>
              <a:t>五个不一样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447800" y="3848100"/>
            <a:ext cx="6286500" cy="8286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和市面上任何一个教育</a:t>
            </a:r>
            <a:r>
              <a:rPr lang="en-US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Chatbot</a:t>
            </a: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80000"/>
              </a:lnSpc>
            </a:pP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都不太一样的地方。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" descr="&lt;Slide style={{ width: 1280, height: 720, background: '#16211d', position: 'relative', overflow: 'hidden' }}&gt;&#10;&#10;    {/* A 区 · 标题块 */}&#10;    &lt;Box style={{ height: 120, paddingLeft: 96, paddingRight: 96, paddingTop: 20, justifyContent: 'center' }}&gt;&#10;        &lt;Box style={{ flexDirection: 'row', alignItems: 'center', gap: 18 }}&gt;&#10;            &lt;Text style={{ fontSize: 15, color: '#e8b34b', letterSpacing: 3 }}&gt;01&lt;/Text&gt;&#10;            &lt;Text style={{ fontSize: 36, fontWeight: 'bold', color: '#f5f2e9' }}&gt;真的 Agent Harness&lt;/Text&gt;&#10;        &lt;/Box&gt;&#10;    &lt;/Box&gt;&#10;&#10;    {/* B 区 · 内容区 */}&#10;    &lt;Box style={{&#10;        height: 540, paddingLeft: 96, paddingRight: 96,&#10;        flexDirection: 'row', gap: 44, alignItems: 'center',&#10;    }}&gt;&#10;&#10;        {/* 宽侧：真实&quot;教学建模&quot;会话，完整工具轨迹 */}&#10;        &lt;Box style={{ flexDirection: 'column', gap: 12 }}&gt;&#10;            &lt;Box style={{&#10;                width: 652, height: 367,&#10;                borderRadius: 12, overflow: 'hidden',&#10;                border: '1px solid rgba(245,242,233,0.14)',&#10;                boxShadow: '0 8px 32px rgba(0,0,0,0.35)',&#10;            }}&gt;&#10;                &lt;Image src=&quot;assets/ui-modeling.png&quot; style={{ width: 652, height: 367, objectFit: 'cover' }} /&gt;&#10;            &lt;/Box&gt;&#10;            &lt;Text style={{ fontSize: 14, color: 'rgba(245,242,233,0.4)' }}&gt;&#10;                真实界面：一次物理建模会话的完整轨迹——它自己查公式、写文件、交付产物&#10;            &lt;/Text&gt;&#10;        &lt;/Box&gt;&#10;&#10;        {/* 窄侧 */}&#10;        &lt;Box style={{ flex: 1, flexDirection: 'column', gap: 18 }}&gt;&#10;&#10;            &lt;Text style={{ fontSize: 22, fontWeight: 600, color: '#f5f2e9', lineHeight: 1.5 }}&gt;&#10;                它不是自己拼的&quot;像 Agent 的外壳&quot;&#10;            &lt;/Text&gt;&#10;&#10;            &lt;Text style={{ fontSize: 16, color: 'rgba(245,242,233,0.55)', lineHeight: 1.8 }}&gt;&#10;                Mochi 的底座是 DeepSeek 官方开源的 Agent 内核（MIT 协议），&#10;                我们在这之上做校园领域的组合——而不是从零造一个聊天机器人。&#10;            &lt;/Text&gt;&#10;&#10;            &lt;Box style={{ height: 1, background: 'rgba(245,242,233,0.12)' }} /&gt;&#10;&#10;            &lt;Box style={{ flexDirection: 'column', gap: 11 }}&gt;&#10;                &lt;Text style={{ fontSize: 15, color: 'rgba(245,242,233,0.62)' }}&gt;· 工具调用：真的去执行，不是文字模拟&lt;/Text&gt;&#10;                &lt;Text style={{ fontSize: 15, color: 'rgba(245,242,233,0.62)' }}&gt;· 会话轨迹：每一步都看得见、可回溯&lt;/Text&gt;&#10;                &lt;Text style={{ fontSize: 15, color: 'rgba(245,242,233,0.62)' }}&gt;· 子代理：一个 Mochi 可以派活给另一个&lt;/Text&gt;&#10;                &lt;Text style={{ fontSize: 15, color: 'rgba(245,242,233,0.62)' }}&gt;· 审批门：敏感动作必须人点头&lt;/Text&gt;&#10;            &lt;/Box&gt;&#10;&#10;            &lt;Text style={{ fontSize: 16, color: '#e8b34b', lineHeight: 1.75 }}&gt;&#10;                这些能力是继承来的，不是我们逐条实现出来的——所以它们真的能用。&#10;            &lt;/Text&gt;&#10;&#10;        &lt;/Box&gt;&#10;    &lt;/Box&gt;&#10;&#10;    {/* C 区 · 页脚条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914400" y="5810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B34B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304925" y="457200"/>
            <a:ext cx="32099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5F2E9"/>
                </a:solidFill>
                <a:latin typeface="Microsoft YaHei"/>
                <a:ea typeface="Microsoft YaHei"/>
              </a:rPr>
              <a:t>真的</a:t>
            </a:r>
            <a:r>
              <a:rPr lang="en-US" sz="2700" b="1">
                <a:solidFill>
                  <a:srgbClr val="F5F2E9"/>
                </a:solidFill>
                <a:latin typeface="Microsoft YaHei"/>
                <a:ea typeface="Microsoft YaHei"/>
              </a:rPr>
              <a:t> Agent Harness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914400" y="1828800"/>
            <a:ext cx="6210300" cy="3495675"/>
          </a:xfrm>
          <a:prstGeom prst="roundRect">
            <a:avLst>
              <a:gd name="adj" fmla="val 3270"/>
            </a:avLst>
          </a:prstGeom>
          <a:ln w="12700">
            <a:solidFill>
              <a:srgbClr val="F5F2E9">
                <a:alpha val="14000"/>
              </a:srgbClr>
            </a:solidFill>
            <a:prstDash val="solid"/>
          </a:ln>
          <a:effectLst>
            <a:outerShdw blurRad="304800" dist="762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241" name=""/>
          <p:cNvPicPr>
            <a:picLocks noChangeAspect="1"/>
          </p:cNvPicPr>
          <p:nvPr/>
        </p:nvPicPr>
        <p:blipFill>
          <a:blip r:embed="rId1"/>
          <a:srcRect l="34" t="0" r="34" b="0"/>
          <a:stretch>
            <a:fillRect/>
          </a:stretch>
        </p:blipFill>
        <p:spPr>
          <a:xfrm rot="0" flipH="0" flipV="0">
            <a:off x="914400" y="1828800"/>
            <a:ext cx="6210300" cy="3495675"/>
          </a:xfrm>
          <a:custGeom>
            <a:pathLst>
              <a:path w="652" h="367">
                <a:moveTo>
                  <a:pt x="640" y="0"/>
                </a:moveTo>
                <a:cubicBezTo>
                  <a:pt x="647" y="0"/>
                  <a:pt x="652" y="5"/>
                  <a:pt x="652" y="12"/>
                </a:cubicBezTo>
                <a:lnTo>
                  <a:pt x="652" y="355"/>
                </a:lnTo>
                <a:cubicBezTo>
                  <a:pt x="652" y="362"/>
                  <a:pt x="647" y="367"/>
                  <a:pt x="640" y="367"/>
                </a:cubicBezTo>
                <a:lnTo>
                  <a:pt x="12" y="367"/>
                </a:lnTo>
                <a:cubicBezTo>
                  <a:pt x="5" y="367"/>
                  <a:pt x="0" y="362"/>
                  <a:pt x="0" y="355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40" y="0"/>
                </a:lnTo>
                <a:close/>
              </a:path>
            </a:pathLst>
          </a:custGeom>
          <a:ln/>
        </p:spPr>
      </p:pic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14400" y="5438775"/>
            <a:ext cx="621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真实界面：一次物理建模会话的完整轨迹——它自己查公式、写文件、交付产物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543800" y="2352675"/>
            <a:ext cx="37338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F5F2E9"/>
                </a:solidFill>
                <a:latin typeface="Microsoft YaHei"/>
                <a:ea typeface="Microsoft YaHei"/>
              </a:rPr>
              <a:t>它不是自己拼的</a:t>
            </a:r>
            <a:r>
              <a:rPr lang="en-US" sz="1650" b="1">
                <a:solidFill>
                  <a:srgbClr val="F5F2E9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F5F2E9"/>
                </a:solidFill>
                <a:latin typeface="Microsoft YaHei"/>
                <a:ea typeface="Microsoft YaHei"/>
              </a:rPr>
              <a:t>像</a:t>
            </a:r>
            <a:r>
              <a:rPr lang="en-US" sz="1650" b="1">
                <a:solidFill>
                  <a:srgbClr val="F5F2E9"/>
                </a:solidFill>
                <a:latin typeface="Microsoft YaHei"/>
                <a:ea typeface="Microsoft YaHei"/>
              </a:rPr>
              <a:t> Agent </a:t>
            </a:r>
            <a:r>
              <a:rPr lang="zh-CN" sz="1650" b="1">
                <a:solidFill>
                  <a:srgbClr val="F5F2E9"/>
                </a:solidFill>
                <a:latin typeface="Microsoft YaHei"/>
                <a:ea typeface="Microsoft YaHei"/>
              </a:rPr>
              <a:t>的外壳</a:t>
            </a:r>
            <a:r>
              <a:rPr lang="en-US" sz="1650" b="1">
                <a:solidFill>
                  <a:srgbClr val="F5F2E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543800" y="2905125"/>
            <a:ext cx="37338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Mochi </a:t>
            </a:r>
            <a:r>
              <a:rPr lang="zh-CN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的底座是</a:t>
            </a:r>
            <a:r>
              <a:rPr lang="en-US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DeepSeek </a:t>
            </a:r>
            <a:r>
              <a:rPr lang="zh-CN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官方开源的</a:t>
            </a:r>
            <a:r>
              <a:rPr lang="en-US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Agent </a:t>
            </a:r>
            <a:r>
              <a:rPr lang="zh-CN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内核（</a:t>
            </a:r>
            <a:r>
              <a:rPr lang="en-US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MIT </a:t>
            </a:r>
            <a:r>
              <a:rPr lang="zh-CN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协议），</a:t>
            </a:r>
            <a:r>
              <a:rPr lang="en-US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我们在这之上做校园领域的组合——而不是从零造一个聊天机器人。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7543800" y="4067175"/>
            <a:ext cx="3733800" cy="9525"/>
          </a:xfrm>
          <a:prstGeom prst="rect">
            <a:avLst/>
          </a:prstGeom>
          <a:solidFill>
            <a:srgbClr val="F5F2E9">
              <a:alpha val="12000"/>
            </a:srgbClr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543800" y="4248150"/>
            <a:ext cx="373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工具调用：真的去执行，不是文字模拟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543800" y="4524375"/>
            <a:ext cx="373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会话轨迹：每一步都看得见、可回溯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543800" y="4800600"/>
            <a:ext cx="373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子代理：一个</a:t>
            </a:r>
            <a:r>
              <a:rPr lang="en-US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 Mochi </a:t>
            </a:r>
            <a:r>
              <a:rPr lang="zh-CN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可以派活给另一个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543800" y="5076825"/>
            <a:ext cx="373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审批门：敏感动作必须人点头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543800" y="5419725"/>
            <a:ext cx="37338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这些能力是继承来的，不是我们逐条实现出来的——所以它们真的能用。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4" name="" descr="&lt;Slide style={{ width: 1280, height: 720, background: '#16211d', position: 'relative', overflow: 'hidden' }}&gt;&#10;&#10;    {/* A 区 · 标题块 */}&#10;    &lt;Box style={{ height: 120, paddingLeft: 96, paddingRight: 96, paddingTop: 20, justifyContent: 'center' }}&gt;&#10;        &lt;Box style={{ flexDirection: 'row', alignItems: 'center', gap: 18 }}&gt;&#10;            &lt;Text style={{ fontSize: 15, color: '#e8b34b', letterSpacing: 3 }}&gt;02&lt;/Text&gt;&#10;            &lt;Text style={{ fontSize: 36, fontWeight: 'bold', color: '#f5f2e9' }}&gt;一切皆插件&lt;/Text&gt;&#10;        &lt;/Box&gt;&#10;    &lt;/Box&gt;&#10;&#10;    {/* B 区 · 内容区 */}&#10;    &lt;Box style={{&#10;        height: 540, paddingLeft: 96, paddingRight: 96,&#10;        flexDirection: 'column', gap: 20,&#10;    }}&gt;&#10;&#10;        {/* 上半：真实工作台界面 */}&#10;        &lt;Box style={{&#10;            width: 1088, height: 296,&#10;            borderRadius: 12, overflow: 'hidden',&#10;            border: '1px solid rgba(245,242,233,0.14)',&#10;            boxShadow: '0 8px 32px rgba(0,0,0,0.35)',&#10;        }}&gt;&#10;            &lt;Image src=&quot;assets/ui-workbench.png&quot; style={{ width: 1088, height: 296, objectFit: 'cover' }} /&gt;&#10;        &lt;/Box&gt;&#10;&#10;        {/* 下半：三张非等宽卡片 */}&#10;        &lt;Box style={{ flex: 1, flexDirection: 'row', gap: 20 }}&gt;&#10;&#10;            &lt;Box style={{&#10;                flex: 1.25, flexDirection: 'column', gap: 10,&#10;                background: 'rgba(245,242,233,0.05)',&#10;                border: '1px solid rgba(245,242,233,0.12)',&#10;                borderRadius: 10, padding: 20,&#10;            }}&gt;&#10;                &lt;Text style={{ fontSize: 20, fontWeight: 600, color: '#f5f2e9' }}&gt;本地知识库&lt;/Text&gt;&#10;                &lt;Text style={{ fontSize: 15, color: 'rgba(245,242,233,0.55)', lineHeight: 1.7 }}&gt;&#10;                    33 册教材导入本机，按页检索。老师问&quot;这个知识点在哪一册哪一页&quot;，它直接给到页码；公式与图表会提醒核对原页，绝不编造原文。&#10;                &lt;/Text&gt;&#10;            &lt;/Box&gt;&#10;&#10;            &lt;Box style={{&#10;                flex: 1, flexDirection: 'column', gap: 10,&#10;                background: 'rgba(245,242,233,0.05)',&#10;                border: '1px solid rgba(245,242,233,0.12)',&#10;                borderRadius: 10, padding: 20,&#10;            }}&gt;&#10;                &lt;Text style={{ fontSize: 20, fontWeight: 600, color: '#f5f2e9' }}&gt;记忆&lt;/Text&gt;&#10;                &lt;Text style={{ fontSize: 15, color: 'rgba(245,242,233,0.55)', lineHeight: 1.7 }}&gt;&#10;                    记住老师的工作习惯与明确要求，下次自动带出来。老师能查看、能纠正、能一键清空——记忆不是黑箱，也绝不偷偷记学生明细。&#10;                &lt;/Text&gt;&#10;            &lt;/Box&gt;&#10;&#10;            &lt;Box style={{&#10;                flex: 0.85, flexDirection: 'column', gap: 10,&#10;                background: 'rgba(245,242,233,0.05)',&#10;                border: '1px solid rgba(245,242,233,0.12)',&#10;                borderRadius: 10, padding: 20,&#10;            }}&gt;&#10;                &lt;Text style={{ fontSize: 20, fontWeight: 600, color: '#f5f2e9' }}&gt;定时任务&lt;/Text&gt;&#10;                &lt;Text style={{ fontSize: 15, color: 'rgba(245,242,233,0.55)', lineHeight: 1.7 }}&gt;&#10;                    到点在原会话里发提醒或产出通知。边界说在前面：应用没打开就不会执行——我们不假装它是云服务。&#10;                &lt;/Text&gt;&#10;            &lt;/Box&gt;&#10;&#10;        &lt;/Box&gt;&#10;    &lt;/Box&gt;&#10;&#10;    {/* C 区 · 页脚条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14400" y="5810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B34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304925" y="457200"/>
            <a:ext cx="1714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5F2E9"/>
                </a:solidFill>
                <a:latin typeface="Microsoft YaHei"/>
                <a:ea typeface="Microsoft YaHei"/>
              </a:rPr>
              <a:t>一切皆插件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914400" y="1143000"/>
            <a:ext cx="10363200" cy="2819400"/>
          </a:xfrm>
          <a:prstGeom prst="roundRect">
            <a:avLst>
              <a:gd name="adj" fmla="val 4054"/>
            </a:avLst>
          </a:prstGeom>
          <a:ln w="12700">
            <a:solidFill>
              <a:srgbClr val="F5F2E9">
                <a:alpha val="14000"/>
              </a:srgbClr>
            </a:solidFill>
            <a:prstDash val="solid"/>
          </a:ln>
          <a:effectLst>
            <a:outerShdw blurRad="304800" dist="762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259" name=""/>
          <p:cNvPicPr>
            <a:picLocks noChangeAspect="1"/>
          </p:cNvPicPr>
          <p:nvPr/>
        </p:nvPicPr>
        <p:blipFill>
          <a:blip r:embed="rId1"/>
          <a:srcRect l="0" t="22493" r="0" b="22493"/>
          <a:stretch>
            <a:fillRect/>
          </a:stretch>
        </p:blipFill>
        <p:spPr>
          <a:xfrm rot="0" flipH="0" flipV="0">
            <a:off x="914400" y="1143000"/>
            <a:ext cx="10363200" cy="2819400"/>
          </a:xfrm>
          <a:custGeom>
            <a:pathLst>
              <a:path w="1088" h="296">
                <a:moveTo>
                  <a:pt x="1076" y="0"/>
                </a:moveTo>
                <a:cubicBezTo>
                  <a:pt x="1083" y="0"/>
                  <a:pt x="1088" y="5"/>
                  <a:pt x="1088" y="12"/>
                </a:cubicBezTo>
                <a:lnTo>
                  <a:pt x="1088" y="284"/>
                </a:lnTo>
                <a:cubicBezTo>
                  <a:pt x="1088" y="291"/>
                  <a:pt x="1083" y="296"/>
                  <a:pt x="1076" y="296"/>
                </a:cubicBezTo>
                <a:lnTo>
                  <a:pt x="12" y="296"/>
                </a:lnTo>
                <a:cubicBezTo>
                  <a:pt x="5" y="296"/>
                  <a:pt x="0" y="291"/>
                  <a:pt x="0" y="284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076" y="0"/>
                </a:lnTo>
                <a:close/>
              </a:path>
            </a:pathLst>
          </a:custGeom>
          <a:ln/>
        </p:spPr>
      </p:pic>
      <p:sp>
        <p:nvSpPr>
          <p:cNvPr id="260" name=""/>
          <p:cNvSpPr/>
          <p:nvPr/>
        </p:nvSpPr>
        <p:spPr>
          <a:xfrm rot="0" flipH="0" flipV="0">
            <a:off x="914400" y="4152900"/>
            <a:ext cx="4029075" cy="2133600"/>
          </a:xfrm>
          <a:prstGeom prst="roundRect">
            <a:avLst>
              <a:gd name="adj" fmla="val 4464"/>
            </a:avLst>
          </a:prstGeom>
          <a:solidFill>
            <a:srgbClr val="F5F2E9">
              <a:alpha val="5000"/>
            </a:srgbClr>
          </a:solidFill>
          <a:ln w="12700">
            <a:solidFill>
              <a:srgbClr val="F5F2E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104900" y="4343400"/>
            <a:ext cx="3648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F2E9"/>
                </a:solidFill>
                <a:latin typeface="Microsoft YaHei"/>
                <a:ea typeface="Microsoft YaHei"/>
              </a:rPr>
              <a:t>本地知识库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04900" y="4667250"/>
            <a:ext cx="36480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33 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册教材导入本机，按页检索。老师问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这个知识点在哪一册哪一页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，它直接给到页码；公式与图表会提醒核对原页，绝不编造原文。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5133975" y="4152900"/>
            <a:ext cx="3219450" cy="2133600"/>
          </a:xfrm>
          <a:prstGeom prst="roundRect">
            <a:avLst>
              <a:gd name="adj" fmla="val 4464"/>
            </a:avLst>
          </a:prstGeom>
          <a:solidFill>
            <a:srgbClr val="F5F2E9">
              <a:alpha val="5000"/>
            </a:srgbClr>
          </a:solidFill>
          <a:ln w="12700">
            <a:solidFill>
              <a:srgbClr val="F5F2E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324475" y="4343400"/>
            <a:ext cx="2838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F2E9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324475" y="4667250"/>
            <a:ext cx="28384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记住老师的工作习惯与明确要求，下次自动带出来。老师能查看、能纠正、能一键清空——记忆不是黑箱，也绝不偷偷记学生明细。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8543925" y="4152900"/>
            <a:ext cx="2733675" cy="2133600"/>
          </a:xfrm>
          <a:prstGeom prst="roundRect">
            <a:avLst>
              <a:gd name="adj" fmla="val 4464"/>
            </a:avLst>
          </a:prstGeom>
          <a:solidFill>
            <a:srgbClr val="F5F2E9">
              <a:alpha val="5000"/>
            </a:srgbClr>
          </a:solidFill>
          <a:ln w="12700">
            <a:solidFill>
              <a:srgbClr val="F5F2E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734425" y="4343400"/>
            <a:ext cx="2352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F2E9"/>
                </a:solidFill>
                <a:latin typeface="Microsoft YaHei"/>
                <a:ea typeface="Microsoft YaHei"/>
              </a:rPr>
              <a:t>定时任务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734425" y="4667250"/>
            <a:ext cx="23526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到点在原会话里发提醒或产出通知。边界说在前面：应用没打开就不会执行——我们不假装它是云服务。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 descr="&lt;Slide style={{ width: 1280, height: 720, background: '#16211d', position: 'relative', overflow: 'hidden' }}&gt;&#10;&#10;    {/* 背景装饰：左侧柔光 */}&#10;    &lt;Box style={{&#10;        position: 'absolute', left: -160, top: 120, width: 560, height: 560,&#10;        background: 'radial-gradient(circle, rgba(232,179,75,0.10) 0%, rgba(232,179,75,0) 70%)',&#10;    }} /&gt;&#10;&#10;    {/* A 区 · 标题块 */}&#10;    &lt;Box style={{ height: 120, paddingLeft: 96, paddingRight: 96, paddingTop: 20, justifyContent: 'center' }}&gt;&#10;        &lt;Box style={{ flexDirection: 'row', alignItems: 'center', gap: 18 }}&gt;&#10;            &lt;Text style={{ fontSize: 15, color: '#e8b34b', letterSpacing: 3 }}&gt;03&lt;/Text&gt;&#10;            &lt;Text style={{ fontSize: 36, fontWeight: 'bold', color: '#f5f2e9' }}&gt;每一步都有人把关&lt;/Text&gt;&#10;        &lt;/Box&gt;&#10;    &lt;/Box&gt;&#10;&#10;    {/* B 区 · 内容区 */}&#10;    &lt;Box style={{&#10;        position: 'relative', zIndex: 1,&#10;        height: 540, paddingLeft: 96, paddingRight: 96,&#10;        flexDirection: 'row', gap: 48, alignItems: 'center',&#10;    }}&gt;&#10;&#10;        {/* 左 60%：审批卡真实截图，焦糖描边聚焦 */}&#10;        &lt;Box style={{&#10;            width: 616, height: 396,&#10;            borderRadius: 12, overflow: 'hidden',&#10;            border: '3px solid #e8b34b',&#10;            boxShadow: '0 0 0 10px rgba(232,179,75,0.16), 0 16px 48px rgba(0,0,0,0.45)',&#10;        }}&gt;&#10;            &lt;Image src=&quot;assets/ui-approval.png&quot; style={{ width: 616, height: 396, objectFit: 'cover' }} /&gt;&#10;        &lt;/Box&gt;&#10;&#10;        {/* 右侧：主张 */}&#10;        &lt;Box style={{ flex: 1, flexDirection: 'column', gap: 22 }}&gt;&#10;&#10;            &lt;Text style={{ fontSize: 44, fontWeight: 'bold', color: '#f5f2e9', lineHeight: 1.25, letterSpacing: -1 }}&gt;&#10;                AI 可以提议，&#10;                &lt;br /&gt;&#10;                &lt;span style={{ color: '#e8b34b' }}&gt;但只有老师能拍板&lt;/span&gt;&#10;            &lt;/Text&gt;&#10;&#10;            &lt;Box style={{ height: 1, background: 'rgba(245,242,233,0.14)' }} /&gt;&#10;&#10;            &lt;Text style={{ fontSize: 16, color: 'rgba(245,242,233,0.6)', lineHeight: 1.85 }}&gt;&#10;                凡是会改变真实世界的动作——发通知、开流动单、改数据——&#10;                Mochi 都会先停下来，把&quot;要做什么、发给谁、发什么&quot;摆清楚，&#10;                等老师点「允许一次」才执行。&#10;            &lt;/Text&gt;&#10;&#10;            &lt;Text style={{ fontSize: 16, color: '#e8b34b', lineHeight: 1.8 }}&gt;&#10;                这不是一个功能，是信任设计：校园里 AI 越权一次的代价，远大于它少做十件事。&#10;            &lt;/Text&gt;&#10;&#10;        &lt;/Box&gt;&#10;    &lt;/Box&gt;&#10;&#10;    {/* C 区 · 页脚条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10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14400" y="5810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B34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304925" y="45720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5F2E9"/>
                </a:solidFill>
                <a:latin typeface="Microsoft YaHei"/>
                <a:ea typeface="Microsoft YaHei"/>
              </a:rPr>
              <a:t>每一步都有人把关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-1524000" y="1143000"/>
            <a:ext cx="5334000" cy="5334000"/>
          </a:xfrm>
          <a:custGeom>
            <a:pathLst>
              <a:path w="560" h="560">
                <a:moveTo>
                  <a:pt x="560" y="560"/>
                </a:moveTo>
                <a:lnTo>
                  <a:pt x="160" y="560"/>
                </a:lnTo>
                <a:lnTo>
                  <a:pt x="160" y="0"/>
                </a:lnTo>
                <a:lnTo>
                  <a:pt x="560" y="0"/>
                </a:lnTo>
                <a:close/>
              </a:path>
            </a:pathLst>
          </a:custGeom>
          <a:gradFill>
            <a:gsLst>
              <a:gs pos="0">
                <a:srgbClr val="E8B34B">
                  <a:alpha val="10000"/>
                </a:srgbClr>
              </a:gs>
              <a:gs pos="70000">
                <a:srgbClr val="E8B34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914400" y="1828800"/>
            <a:ext cx="5867400" cy="3771900"/>
          </a:xfrm>
          <a:prstGeom prst="roundRect">
            <a:avLst>
              <a:gd name="adj" fmla="val 3030"/>
            </a:avLst>
          </a:prstGeom>
          <a:ln w="38100">
            <a:solidFill>
              <a:srgbClr val="E8B34B"/>
            </a:solidFill>
            <a:prstDash val="solid"/>
          </a:ln>
          <a:effectLst>
            <a:outerShdw blurRad="0" dist="0" dir="0">
              <a:srgbClr val="E8B34B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5" name=""/>
          <p:cNvPicPr>
            <a:picLocks noChangeAspect="1"/>
          </p:cNvPicPr>
          <p:nvPr/>
        </p:nvPicPr>
        <p:blipFill>
          <a:blip r:embed="rId1"/>
          <a:srcRect l="11536" t="0" r="11536" b="0"/>
          <a:stretch>
            <a:fillRect/>
          </a:stretch>
        </p:blipFill>
        <p:spPr>
          <a:xfrm rot="0" flipH="0" flipV="0">
            <a:off x="914400" y="1828800"/>
            <a:ext cx="5867400" cy="3771900"/>
          </a:xfrm>
          <a:custGeom>
            <a:pathLst>
              <a:path w="616" h="396">
                <a:moveTo>
                  <a:pt x="604" y="0"/>
                </a:moveTo>
                <a:cubicBezTo>
                  <a:pt x="611" y="0"/>
                  <a:pt x="616" y="5"/>
                  <a:pt x="616" y="12"/>
                </a:cubicBezTo>
                <a:lnTo>
                  <a:pt x="616" y="384"/>
                </a:lnTo>
                <a:cubicBezTo>
                  <a:pt x="616" y="391"/>
                  <a:pt x="611" y="396"/>
                  <a:pt x="604" y="396"/>
                </a:cubicBezTo>
                <a:lnTo>
                  <a:pt x="12" y="396"/>
                </a:lnTo>
                <a:cubicBezTo>
                  <a:pt x="5" y="396"/>
                  <a:pt x="0" y="391"/>
                  <a:pt x="0" y="384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04" y="0"/>
                </a:lnTo>
                <a:close/>
              </a:path>
            </a:pathLst>
          </a:cu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239000" y="1924050"/>
            <a:ext cx="4038600" cy="12573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300" b="1" spc="-75">
                <a:solidFill>
                  <a:srgbClr val="F5F2E9"/>
                </a:solidFill>
                <a:latin typeface="Microsoft YaHei"/>
                <a:ea typeface="Microsoft YaHei"/>
              </a:rPr>
              <a:t>AI </a:t>
            </a:r>
            <a:r>
              <a:rPr lang="zh-CN" sz="3300" b="1" spc="-75">
                <a:solidFill>
                  <a:srgbClr val="F5F2E9"/>
                </a:solidFill>
                <a:latin typeface="Microsoft YaHei"/>
                <a:ea typeface="Microsoft YaHei"/>
              </a:rPr>
              <a:t>可以提议，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 spc="-75">
                <a:solidFill>
                  <a:srgbClr val="E8B34B"/>
                </a:solidFill>
                <a:latin typeface="Microsoft YaHei"/>
                <a:ea typeface="Microsoft YaHei"/>
              </a:rPr>
              <a:t>但只有老师能拍板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7239000" y="3390900"/>
            <a:ext cx="4038600" cy="9525"/>
          </a:xfrm>
          <a:prstGeom prst="rect">
            <a:avLst/>
          </a:prstGeom>
          <a:solidFill>
            <a:srgbClr val="F5F2E9">
              <a:alpha val="14000"/>
            </a:srgbClr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239000" y="3609975"/>
            <a:ext cx="40386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凡是会改变真实世界的动作——发通知、开流动单、改数据——</a:t>
            </a:r>
            <a:r>
              <a:rPr lang="en-US" sz="1200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 Mochi </a:t>
            </a:r>
            <a:r>
              <a:rPr lang="zh-CN" sz="1200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都会先停下来，把</a:t>
            </a:r>
            <a:r>
              <a:rPr lang="en-US" sz="1200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要做什么、发给谁、发什么</a:t>
            </a:r>
            <a:r>
              <a:rPr lang="en-US" sz="1200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摆清楚，</a:t>
            </a:r>
            <a:r>
              <a:rPr lang="en-US" sz="1200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等老师点「允许一次」才执行。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239000" y="4838700"/>
            <a:ext cx="4038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这不是一个功能，是信任设计：校园里</a:t>
            </a:r>
            <a:r>
              <a:rPr lang="en-US" sz="1200">
                <a:solidFill>
                  <a:srgbClr val="E8B34B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越权一次的代价，远大于它少做十件事。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 descr="&lt;Slide style={{ width: 1280, height: 720, background: '#16211d', position: 'relative', overflow: 'hidden' }}&gt;&#10;&#10;    {/* A 区 · 标题块 */}&#10;    &lt;Box style={{ height: 120, paddingLeft: 96, paddingRight: 96, paddingTop: 20, justifyContent: 'center' }}&gt;&#10;        &lt;Box style={{ flexDirection: 'row', alignItems: 'center', gap: 18 }}&gt;&#10;            &lt;Text style={{ fontSize: 15, color: '#e8b34b', letterSpacing: 3 }}&gt;04&lt;/Text&gt;&#10;            &lt;Text style={{ fontSize: 36, fontWeight: 'bold', color: '#f5f2e9' }}&gt;Mochi 之间，直接说话&lt;/Text&gt;&#10;        &lt;/Box&gt;&#10;    &lt;/Box&gt;&#10;&#10;    {/* B 区 · 内容区 */}&#10;    &lt;Box style={{&#10;        height: 540, paddingLeft: 96, paddingRight: 96,&#10;        flexDirection: 'row', gap: 44, alignItems: 'center',&#10;    }}&gt;&#10;&#10;        {/* 宽侧：A2A 审批卡真实截图 */}&#10;        &lt;Box style={{ flexDirection: 'column', gap: 12 }}&gt;&#10;            &lt;Box style={{&#10;                width: 556, height: 445,&#10;                borderRadius: 12, overflow: 'hidden',&#10;                border: '1px solid rgba(245,242,233,0.14)',&#10;                boxShadow: '0 8px 32px rgba(0,0,0,0.35)',&#10;            }}&gt;&#10;                &lt;Image src=&quot;assets/ui-a2a-approval.png&quot; style={{ width: 556, height: 445, objectFit: 'cover' }} /&gt;&#10;            &lt;/Box&gt;&#10;            &lt;Text style={{ fontSize: 14, color: 'rgba(245,242,233,0.4)' }}&gt;&#10;                真实界面：老师的 Mochi 要给校医的 Mochi 带话，先请老师确认&#10;            &lt;/Text&gt;&#10;        &lt;/Box&gt;&#10;&#10;        {/* 窄侧：三件事 */}&#10;        &lt;Box style={{ flex: 1, flexDirection: 'column', gap: 17 }}&gt;&#10;&#10;            &lt;Box style={{ flexDirection: 'column', gap: 6 }}&gt;&#10;                &lt;Text style={{ fontSize: 19, fontWeight: 600, color: '#f5f2e9' }}&gt;同事的 Mochi 直接收&lt;/Text&gt;&#10;                &lt;Text style={{ fontSize: 15, color: 'rgba(245,242,233,0.5)', lineHeight: 1.7 }}&gt;&#10;                    老师的 Mochi 把口信投递给另一位老师的 Mochi，不经人肉转述&#10;                &lt;/Text&gt;&#10;            &lt;/Box&gt;&#10;&#10;            &lt;Box style={{ flexDirection: 'column', gap: 6 }}&gt;&#10;                &lt;Text style={{ fontSize: 19, fontWeight: 600, color: '#f5f2e9' }}&gt;投递前必须确认&lt;/Text&gt;&#10;                &lt;Text style={{ fontSize: 15, color: 'rgba(245,242,233,0.5)', lineHeight: 1.7 }}&gt;&#10;                    接收人、口信内容摆清楚，老师点「允许一次」才发得出去&#10;                &lt;/Text&gt;&#10;            &lt;/Box&gt;&#10;&#10;            &lt;Box style={{ flexDirection: 'column', gap: 6 }}&gt;&#10;                &lt;Text style={{ fontSize: 19, fontWeight: 600, color: '#f5f2e9' }}&gt;答不答应，由对方决定&lt;/Text&gt;&#10;                &lt;Text style={{ fontSize: 15, color: 'rgba(245,242,233,0.5)', lineHeight: 1.7 }}&gt;&#10;                    服务器只投递这一句话，不替对方承诺，也不替老师催办&#10;                &lt;/Text&gt;&#10;            &lt;/Box&gt;&#10;&#10;            &lt;Box style={{ height: 1, background: 'rgba(245,242,233,0.12)', marginTop: 4 }} /&gt;&#10;&#10;            &lt;Text style={{ fontSize: 16, color: '#e8b34b', lineHeight: 1.75 }}&gt;&#10;                校园里最贵的成本，是信息在人之间传丢。这一层，我们让两个 Agent 直接对上。&#10;            &lt;/Text&gt;&#10;&#10;        &lt;/Box&gt;&#10;    &lt;/Box&gt;&#10;&#10;    {/* C 区 · 页脚条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11 / 1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914400" y="5810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B34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304925" y="457200"/>
            <a:ext cx="34861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5F2E9"/>
                </a:solidFill>
                <a:latin typeface="Microsoft YaHei"/>
                <a:ea typeface="Microsoft YaHei"/>
              </a:rPr>
              <a:t>Mochi </a:t>
            </a:r>
            <a:r>
              <a:rPr lang="zh-CN" sz="2700" b="1">
                <a:solidFill>
                  <a:srgbClr val="F5F2E9"/>
                </a:solidFill>
                <a:latin typeface="Microsoft YaHei"/>
                <a:ea typeface="Microsoft YaHei"/>
              </a:rPr>
              <a:t>之间，直接说话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914400" y="1457325"/>
            <a:ext cx="5295900" cy="4238625"/>
          </a:xfrm>
          <a:prstGeom prst="roundRect">
            <a:avLst>
              <a:gd name="adj" fmla="val 2697"/>
            </a:avLst>
          </a:prstGeom>
          <a:ln w="12700">
            <a:solidFill>
              <a:srgbClr val="F5F2E9">
                <a:alpha val="14000"/>
              </a:srgbClr>
            </a:solidFill>
            <a:prstDash val="solid"/>
          </a:ln>
          <a:effectLst>
            <a:outerShdw blurRad="304800" dist="762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 r:embed="rId1"/>
          <a:srcRect l="0" t="0" r="0" b="0"/>
          <a:stretch>
            <a:fillRect/>
          </a:stretch>
        </p:blipFill>
        <p:spPr>
          <a:xfrm rot="0" flipH="0" flipV="0">
            <a:off x="914400" y="1457325"/>
            <a:ext cx="5295900" cy="4238625"/>
          </a:xfrm>
          <a:custGeom>
            <a:pathLst>
              <a:path w="556" h="445">
                <a:moveTo>
                  <a:pt x="544" y="0"/>
                </a:moveTo>
                <a:cubicBezTo>
                  <a:pt x="551" y="0"/>
                  <a:pt x="556" y="5"/>
                  <a:pt x="556" y="12"/>
                </a:cubicBezTo>
                <a:lnTo>
                  <a:pt x="556" y="433"/>
                </a:lnTo>
                <a:cubicBezTo>
                  <a:pt x="556" y="440"/>
                  <a:pt x="551" y="445"/>
                  <a:pt x="544" y="445"/>
                </a:cubicBezTo>
                <a:lnTo>
                  <a:pt x="12" y="445"/>
                </a:lnTo>
                <a:cubicBezTo>
                  <a:pt x="5" y="445"/>
                  <a:pt x="0" y="440"/>
                  <a:pt x="0" y="433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544" y="0"/>
                </a:lnTo>
                <a:close/>
              </a:path>
            </a:pathLst>
          </a:cu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14400" y="5810250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真实界面：老师的</a:t>
            </a:r>
            <a:r>
              <a:rPr lang="en-US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 Mochi </a:t>
            </a:r>
            <a:r>
              <a:rPr lang="zh-CN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要给校医的</a:t>
            </a:r>
            <a:r>
              <a:rPr lang="en-US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 Mochi </a:t>
            </a:r>
            <a:r>
              <a:rPr lang="zh-CN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带话，先请老师确认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629400" y="2352675"/>
            <a:ext cx="4648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同事的</a:t>
            </a:r>
            <a:r>
              <a:rPr lang="en-US" sz="1425" b="1">
                <a:solidFill>
                  <a:srgbClr val="F5F2E9"/>
                </a:solidFill>
                <a:latin typeface="Microsoft YaHei"/>
                <a:ea typeface="Microsoft YaHei"/>
              </a:rPr>
              <a:t> Mochi </a:t>
            </a: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直接收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629400" y="2628900"/>
            <a:ext cx="46482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老师的</a:t>
            </a:r>
            <a:r>
              <a:rPr lang="en-US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Mochi </a:t>
            </a: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把口信投递给另一位老师的</a:t>
            </a:r>
            <a:r>
              <a:rPr lang="en-US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Mochi</a:t>
            </a: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，不经人肉转述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629400" y="3086100"/>
            <a:ext cx="4648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投递前必须确认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629400" y="3362325"/>
            <a:ext cx="46482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接收人、口信内容摆清楚，老师点「允许一次」才发得出去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629400" y="3819525"/>
            <a:ext cx="4648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答不答应，由对方决定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629400" y="4095750"/>
            <a:ext cx="46482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服务器只投递这一句话，不替对方承诺，也不替老师催办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629400" y="4591050"/>
            <a:ext cx="4648200" cy="9525"/>
          </a:xfrm>
          <a:prstGeom prst="rect">
            <a:avLst/>
          </a:prstGeom>
          <a:solidFill>
            <a:srgbClr val="F5F2E9">
              <a:alpha val="12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629400" y="4762500"/>
            <a:ext cx="46482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校园里最贵的成本，是信息在人之间传丢。这一层，我们让两个</a:t>
            </a:r>
            <a:r>
              <a:rPr lang="en-US" sz="1200">
                <a:solidFill>
                  <a:srgbClr val="E8B34B"/>
                </a:solidFill>
                <a:latin typeface="Microsoft YaHei"/>
                <a:ea typeface="Microsoft YaHei"/>
              </a:rPr>
              <a:t> Agent </a:t>
            </a: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直接对上。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0877550" y="64960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11 / 17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 descr="&lt;Slide style={{ width: 1280, height: 720, background: '#16211d', position: 'relative', overflow: 'hidden' }}&gt;&#10;&#10;    {/* A 区 · 标题块 */}&#10;    &lt;Box style={{ height: 120, paddingLeft: 96, paddingRight: 96, paddingTop: 20, justifyContent: 'center' }}&gt;&#10;        &lt;Box style={{ flexDirection: 'row', alignItems: 'center', gap: 18 }}&gt;&#10;            &lt;Text style={{ fontSize: 15, color: '#e8b34b', letterSpacing: 3 }}&gt;05&lt;/Text&gt;&#10;            &lt;Text style={{ fontSize: 36, fontWeight: 'bold', color: '#f5f2e9' }}&gt;教室端也是 Agent&lt;/Text&gt;&#10;        &lt;/Box&gt;&#10;    &lt;/Box&gt;&#10;&#10;    {/* B 区 · 内容区 */}&#10;    &lt;Box style={{&#10;        height: 540, paddingLeft: 96, paddingRight: 96,&#10;        flexDirection: 'row', gap: 44, alignItems: 'center',&#10;    }}&gt;&#10;&#10;        {/* 宽侧：教室连接面板真实截图 */}&#10;        &lt;Box style={{ flexDirection: 'column', gap: 12 }}&gt;&#10;            &lt;Box style={{&#10;                width: 628, height: 353,&#10;                borderRadius: 12, overflow: 'hidden',&#10;                border: '1px solid rgba(245,242,233,0.14)',&#10;                boxShadow: '0 8px 32px rgba(0,0,0,0.35)',&#10;            }}&gt;&#10;                &lt;Image src=&quot;assets/ui-classroom.png&quot; style={{ width: 628, height: 353, objectFit: 'cover' }} /&gt;&#10;            &lt;/Box&gt;&#10;            &lt;Box style={{ flexDirection: 'row', alignItems: 'center', gap: 10 }}&gt;&#10;                &lt;Box style={{ paddingLeft: 12, paddingRight: 12, paddingTop: 7, paddingBottom: 7, borderRadius: 6, background: 'rgba(232,179,75,0.15)', border: '1px solid rgba(232,179,75,0.45)' }}&gt;&#10;                    &lt;Text style={{ fontSize: 14, fontWeight: 600, color: '#e8b34b' }}&gt;教师端 Mochi&lt;/Text&gt;&#10;                &lt;/Box&gt;&#10;                &lt;Text style={{ fontSize: 15, color: 'rgba(245,242,233,0.3)' }}&gt;→&lt;/Text&gt;&#10;                &lt;Box style={{ paddingLeft: 10, paddingRight: 10, paddingTop: 8, paddingBottom: 8, borderRadius: 6, background: 'rgba(245,242,233,0.06)', border: '1px solid rgba(245,242,233,0.14)' }}&gt;&#10;                    &lt;Text style={{ fontSize: 13, color: 'rgba(245,242,233,0.55)' }}&gt;局域网 47832&lt;/Text&gt;&#10;                &lt;/Box&gt;&#10;                &lt;Text style={{ fontSize: 15, color: 'rgba(245,242,233,0.3)' }}&gt;→&lt;/Text&gt;&#10;                &lt;Box style={{ paddingLeft: 12, paddingRight: 12, paddingTop: 7, paddingBottom: 7, borderRadius: 6, background: 'rgba(232,179,75,0.15)', border: '1px solid rgba(232,179,75,0.45)' }}&gt;&#10;                    &lt;Text style={{ fontSize: 14, fontWeight: 600, color: '#e8b34b' }}&gt;教室端 Mochi&lt;/Text&gt;&#10;                &lt;/Box&gt;&#10;            &lt;/Box&gt;&#10;            &lt;Text style={{ fontSize: 14, color: 'rgba(245,242,233,0.4)' }}&gt;&#10;                真实界面：教师端的「教室连接」面板——身份、相识、发现三段式&#10;            &lt;/Text&gt;&#10;        &lt;/Box&gt;&#10;&#10;        {/* 窄侧：三条关系 */}&#10;        &lt;Box style={{ flex: 1, flexDirection: 'column', gap: 16 }}&gt;&#10;&#10;            &lt;Box style={{ flexDirection: 'column', gap: 5 }}&gt;&#10;                &lt;Text style={{ fontSize: 19, fontWeight: 600, color: '#f5f2e9' }}&gt;两种身份，各跑一个 Agent&lt;/Text&gt;&#10;                &lt;Text style={{ fontSize: 15, color: 'rgba(245,242,233,0.5)', lineHeight: 1.6 }}&gt;教室一体机上的 Mochi 有自己的身份、模型和数据根，不登录任何老师的账号&lt;/Text&gt;&#10;            &lt;/Box&gt;&#10;&#10;            &lt;Box style={{ flexDirection: 'column', gap: 5 }}&gt;&#10;                &lt;Text style={{ fontSize: 19, fontWeight: 600, color: '#f5f2e9' }}&gt;发现不等于相识&lt;/Text&gt;&#10;                &lt;Text style={{ fontSize: 15, color: 'rgba(245,242,233,0.5)', lineHeight: 1.6 }}&gt;自动发现只是「看见」；要先核对学校、班级、角色和指纹，再由老师发起相识&lt;/Text&gt;&#10;            &lt;/Box&gt;&#10;&#10;            &lt;Box style={{ flexDirection: 'column', gap: 5 }}&gt;&#10;                &lt;Text style={{ fontSize: 19, fontWeight: 600, color: '#f5f2e9' }}&gt;推的是通知与课件&lt;/Text&gt;&#10;                &lt;Text style={{ fontSize: 15, color: 'rgba(245,242,233,0.5)', lineHeight: 1.6 }}&gt;连上后把通知和文件推到教室大屏，教室端点「我已看到」回传签名回执&lt;/Text&gt;&#10;            &lt;/Box&gt;&#10;&#10;            &lt;Box style={{ height: 1, background: 'rgba(245,242,233,0.12)', marginTop: 4 }} /&gt;&#10;&#10;            &lt;Text style={{ fontSize: 16, color: '#e8b34b', lineHeight: 1.75 }}&gt;&#10;                界面原话：「教师与教室各自独立身份；发现不等于相识，投递不等于已看到。」&#10;            &lt;/Text&gt;&#10;&#10;        &lt;/Box&gt;&#10;    &lt;/Box&gt;&#10;&#10;    {/* C 区 · 页脚条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12 / 1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14400" y="581025"/>
            <a:ext cx="219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B34B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304925" y="457200"/>
            <a:ext cx="2781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5F2E9"/>
                </a:solidFill>
                <a:latin typeface="Microsoft YaHei"/>
                <a:ea typeface="Microsoft YaHei"/>
              </a:rPr>
              <a:t>教室端也是</a:t>
            </a:r>
            <a:r>
              <a:rPr lang="en-US" sz="2700" b="1">
                <a:solidFill>
                  <a:srgbClr val="F5F2E9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914400" y="1685925"/>
            <a:ext cx="5981700" cy="3362325"/>
          </a:xfrm>
          <a:prstGeom prst="roundRect">
            <a:avLst>
              <a:gd name="adj" fmla="val 3399"/>
            </a:avLst>
          </a:prstGeom>
          <a:ln w="12700">
            <a:solidFill>
              <a:srgbClr val="F5F2E9">
                <a:alpha val="14000"/>
              </a:srgbClr>
            </a:solidFill>
            <a:prstDash val="solid"/>
          </a:ln>
          <a:effectLst>
            <a:outerShdw blurRad="304800" dist="762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53" name=""/>
          <p:cNvPicPr>
            <a:picLocks noChangeAspect="1"/>
          </p:cNvPicPr>
          <p:nvPr/>
        </p:nvPicPr>
        <p:blipFill>
          <a:blip r:embed="rId1"/>
          <a:srcRect l="0" t="35" r="0" b="35"/>
          <a:stretch>
            <a:fillRect/>
          </a:stretch>
        </p:blipFill>
        <p:spPr>
          <a:xfrm rot="0" flipH="0" flipV="0">
            <a:off x="914400" y="1685925"/>
            <a:ext cx="5981700" cy="3362325"/>
          </a:xfrm>
          <a:custGeom>
            <a:pathLst>
              <a:path w="628" h="353">
                <a:moveTo>
                  <a:pt x="616" y="0"/>
                </a:moveTo>
                <a:cubicBezTo>
                  <a:pt x="623" y="0"/>
                  <a:pt x="628" y="5"/>
                  <a:pt x="628" y="12"/>
                </a:cubicBezTo>
                <a:lnTo>
                  <a:pt x="628" y="341"/>
                </a:lnTo>
                <a:cubicBezTo>
                  <a:pt x="628" y="348"/>
                  <a:pt x="623" y="353"/>
                  <a:pt x="616" y="353"/>
                </a:cubicBezTo>
                <a:lnTo>
                  <a:pt x="12" y="353"/>
                </a:lnTo>
                <a:cubicBezTo>
                  <a:pt x="5" y="353"/>
                  <a:pt x="0" y="348"/>
                  <a:pt x="0" y="341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16" y="0"/>
                </a:lnTo>
                <a:close/>
              </a:path>
            </a:pathLst>
          </a:custGeom>
          <a:ln/>
        </p:spPr>
      </p:pic>
      <p:sp>
        <p:nvSpPr>
          <p:cNvPr id="54" name=""/>
          <p:cNvSpPr/>
          <p:nvPr/>
        </p:nvSpPr>
        <p:spPr>
          <a:xfrm rot="0" flipH="0" flipV="0">
            <a:off x="914400" y="5172075"/>
            <a:ext cx="1057275" cy="295275"/>
          </a:xfrm>
          <a:prstGeom prst="roundRect">
            <a:avLst>
              <a:gd name="adj" fmla="val 19355"/>
            </a:avLst>
          </a:prstGeom>
          <a:solidFill>
            <a:srgbClr val="E8B34B">
              <a:alpha val="15000"/>
            </a:srgbClr>
          </a:solidFill>
          <a:ln w="12700">
            <a:solidFill>
              <a:srgbClr val="E8B34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028700" y="5238750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8B34B"/>
                </a:solidFill>
                <a:latin typeface="Microsoft YaHei"/>
                <a:ea typeface="Microsoft YaHei"/>
              </a:rPr>
              <a:t>教师端</a:t>
            </a:r>
            <a:r>
              <a:rPr lang="en-US" sz="1050" b="1">
                <a:solidFill>
                  <a:srgbClr val="E8B34B"/>
                </a:solidFill>
                <a:latin typeface="Microsoft YaHei"/>
                <a:ea typeface="Microsoft YaHei"/>
              </a:rPr>
              <a:t> Mochi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2066925" y="52292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5F2E9">
                    <a:alpha val="3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2305050" y="5162550"/>
            <a:ext cx="942975" cy="304800"/>
          </a:xfrm>
          <a:prstGeom prst="roundRect">
            <a:avLst>
              <a:gd name="adj" fmla="val 18750"/>
            </a:avLst>
          </a:prstGeom>
          <a:solidFill>
            <a:srgbClr val="F5F2E9">
              <a:alpha val="6000"/>
            </a:srgbClr>
          </a:solidFill>
          <a:ln w="12700">
            <a:solidFill>
              <a:srgbClr val="F5F2E9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400300" y="5238750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局域网</a:t>
            </a:r>
            <a:r>
              <a:rPr lang="en-US" sz="97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47832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343275" y="52292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5F2E9">
                    <a:alpha val="3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3581400" y="5172075"/>
            <a:ext cx="1057275" cy="295275"/>
          </a:xfrm>
          <a:prstGeom prst="roundRect">
            <a:avLst>
              <a:gd name="adj" fmla="val 19355"/>
            </a:avLst>
          </a:prstGeom>
          <a:solidFill>
            <a:srgbClr val="E8B34B">
              <a:alpha val="15000"/>
            </a:srgbClr>
          </a:solidFill>
          <a:ln w="12700">
            <a:solidFill>
              <a:srgbClr val="E8B34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695700" y="5238750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8B34B"/>
                </a:solidFill>
                <a:latin typeface="Microsoft YaHei"/>
                <a:ea typeface="Microsoft YaHei"/>
              </a:rPr>
              <a:t>教室端</a:t>
            </a:r>
            <a:r>
              <a:rPr lang="en-US" sz="1050" b="1">
                <a:solidFill>
                  <a:srgbClr val="E8B34B"/>
                </a:solidFill>
                <a:latin typeface="Microsoft YaHei"/>
                <a:ea typeface="Microsoft YaHei"/>
              </a:rPr>
              <a:t> Mochi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14400" y="5581650"/>
            <a:ext cx="598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真实界面：教师端的「教室连接」面板——身份、相识、发现三段式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315200" y="2409825"/>
            <a:ext cx="396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两种身份，各跑一个</a:t>
            </a:r>
            <a:r>
              <a:rPr lang="en-US" sz="1425" b="1">
                <a:solidFill>
                  <a:srgbClr val="F5F2E9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315200" y="2676525"/>
            <a:ext cx="3962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教室一体机上的</a:t>
            </a:r>
            <a:r>
              <a:rPr lang="en-US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Mochi </a:t>
            </a: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有自己的身份、模型和数据根，不登录任何老师的账号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315200" y="3381375"/>
            <a:ext cx="396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发现不等于相识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315200" y="3648075"/>
            <a:ext cx="3962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自动发现只是「看见」；要先核对学校、班级、角色和指纹，再由老师发起相识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315200" y="4352925"/>
            <a:ext cx="396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推的是通知与课件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315200" y="4619625"/>
            <a:ext cx="3962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连上后把通知和文件推到教室大屏，教室端点「我已看到」回传签名回执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7315200" y="5362575"/>
            <a:ext cx="3962400" cy="9525"/>
          </a:xfrm>
          <a:prstGeom prst="rect">
            <a:avLst/>
          </a:prstGeom>
          <a:solidFill>
            <a:srgbClr val="F5F2E9">
              <a:alpha val="12000"/>
            </a:srgbClr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315200" y="5524500"/>
            <a:ext cx="3962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B34B"/>
                </a:solidFill>
                <a:latin typeface="Microsoft YaHei"/>
                <a:ea typeface="Microsoft YaHei"/>
              </a:rPr>
              <a:t>界面原话：「教师与教室各自独立身份；发现不等于相识，投递不等于已看到。」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12 / 17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4" name="" descr="&lt;Slide style={{ width: 1280, height: 720, background: '#16211d', position: 'relative', overflow: 'hidden' }}&gt;&#10;&#10;    {/* 右侧双平台符号（暖米白细线） */}&#10;    &lt;Box style={{ position: 'absolute', right: 120, top: 250, width: 300, height: 220 }}&gt;&#10;        &lt;svg width={300} height={220} viewBox='0 0 300 220'&gt;&#10;            {/* Windows 四格 */}&#10;            &lt;rect x='0' y='20' width='56' height='56' rx='4' fill='none' stroke='rgba(245,242,233,0.30)' strokeWidth='1.5' /&gt;&#10;            &lt;rect x='64' y='20' width='56' height='56' rx='4' fill='none' stroke='rgba(245,242,233,0.30)' strokeWidth='1.5' /&gt;&#10;            &lt;rect x='0' y='84' width='56' height='56' rx='4' fill='none' stroke='rgba(245,242,233,0.30)' strokeWidth='1.5' /&gt;&#10;            &lt;rect x='64' y='84' width='56' height='56' rx='4' fill='none' stroke='rgba(245,242,233,0.30)' strokeWidth='1.5' /&gt;&#10;            {/* mac 圆角矩形 */}&#10;            &lt;rect x='176' y='20' width='120' height='120' rx='26' fill='none' stroke='rgba(245,242,233,0.30)' strokeWidth='1.5' /&gt;&#10;            {/* 连接细线 */}&#10;            &lt;line x1='140' y1='80' x2='166' y2='80' stroke='rgba(232,179,75,0.45)' strokeWidth='1.5' /&gt;&#10;        &lt;/svg&gt;&#10;    &lt;/Box&gt;&#10;&#10;    {/* 左侧竖向焦糖细线 */}&#10;    &lt;Box style={{ position: 'absolute', left: 96, top: 180, width: 2, height: 360, background: 'linear-gradient(180deg, rgba(232,179,75,0.65) 0%, rgba(232,179,75,0.05) 100%)' }} /&gt;&#10;&#10;    &lt;Box style={{&#10;        position: 'relative', zIndex: 1,&#10;        width: 1280, height: 720,&#10;        paddingLeft: 152, paddingRight: 96,&#10;        justifyContent: 'center', gap: 28,&#10;    }}&gt;&#10;        &lt;Text style={{ fontSize: 15, color: '#e8b34b', letterSpacing: 6 }}&gt;04 / 成果&lt;/Text&gt;&#10;        &lt;Text style={{ fontSize: 72, fontWeight: 'bold', color: '#f5f2e9', lineHeight: 1.15, letterSpacing: -1 }}&gt;&#10;            真的能装，&#10;            &lt;br /&gt;&#10;            真的能用&#10;        &lt;/Text&gt;&#10;        &lt;Text style={{ fontSize: 20, color: 'rgba(245,242,233,0.55)', lineHeight: 1.8, width: 620 }}&gt;&#10;            不是实验室里的 demo——&#10;            &lt;br /&gt;&#10;            是 Windows 和 macOS 上都能双击打开的成品。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0" y="2381250"/>
            <a:ext cx="2857500" cy="2095500"/>
          </a:xfrm>
          <a:prstGeom prst="rect">
            <a:avLst/>
          </a:prstGeom>
          <a:ln/>
        </p:spPr>
      </p:pic>
      <p:sp>
        <p:nvSpPr>
          <p:cNvPr id="77" name=""/>
          <p:cNvSpPr/>
          <p:nvPr/>
        </p:nvSpPr>
        <p:spPr>
          <a:xfrm rot="0" flipH="0" flipV="0">
            <a:off x="914400" y="1714500"/>
            <a:ext cx="19050" cy="3429000"/>
          </a:xfrm>
          <a:prstGeom prst="rect">
            <a:avLst/>
          </a:prstGeom>
          <a:gradFill>
            <a:gsLst>
              <a:gs pos="0">
                <a:srgbClr val="E8B34B">
                  <a:alpha val="65000"/>
                </a:srgbClr>
              </a:gs>
              <a:gs pos="100000">
                <a:srgbClr val="E8B34B">
                  <a:alpha val="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447800" y="1714500"/>
            <a:ext cx="982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E8B34B"/>
                </a:solidFill>
                <a:latin typeface="Microsoft YaHei"/>
                <a:ea typeface="Microsoft YaHei"/>
              </a:rPr>
              <a:t>04 / </a:t>
            </a:r>
            <a:r>
              <a:rPr lang="zh-CN" sz="1125" spc="450">
                <a:solidFill>
                  <a:srgbClr val="E8B34B"/>
                </a:solidFill>
                <a:latin typeface="Microsoft YaHei"/>
                <a:ea typeface="Microsoft YaHei"/>
              </a:rPr>
              <a:t>成果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447800" y="2152650"/>
            <a:ext cx="9829800" cy="1895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 spc="-75">
                <a:solidFill>
                  <a:srgbClr val="F5F2E9"/>
                </a:solidFill>
                <a:latin typeface="Microsoft YaHei"/>
                <a:ea typeface="Microsoft YaHei"/>
              </a:rPr>
              <a:t>真的能装，</a:t>
            </a:r>
            <a:endParaRPr/>
          </a:p>
          <a:p>
            <a:pPr>
              <a:lnSpc>
                <a:spcPct val="114999"/>
              </a:lnSpc>
            </a:pPr>
            <a:r>
              <a:rPr lang="zh-CN" sz="5400" b="1" spc="-75">
                <a:solidFill>
                  <a:srgbClr val="F5F2E9"/>
                </a:solidFill>
                <a:latin typeface="Microsoft YaHei"/>
                <a:ea typeface="Microsoft YaHei"/>
              </a:rPr>
              <a:t>真的能用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447800" y="4314825"/>
            <a:ext cx="5905500" cy="8286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不是实验室里的</a:t>
            </a:r>
            <a:r>
              <a:rPr lang="en-US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demo——</a:t>
            </a:r>
            <a:endParaRPr/>
          </a:p>
          <a:p>
            <a:pPr>
              <a:lnSpc>
                <a:spcPct val="180000"/>
              </a:lnSpc>
            </a:pP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是</a:t>
            </a:r>
            <a:r>
              <a:rPr lang="en-US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Windows </a:t>
            </a: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和</a:t>
            </a:r>
            <a:r>
              <a:rPr lang="en-US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macOS </a:t>
            </a:r>
            <a:r>
              <a:rPr lang="zh-CN" sz="150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上都能双击打开的成品。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 descr="&lt;Slide style={{ width: 1280, height: 720, background: '#16211d', position: 'relative', overflow: 'hidden' }}&gt;&#10;&#10;    {/* 背景柔光 */}&#10;    &lt;Box style={{&#10;        position: 'absolute', left: 120, top: 80, width: 720, height: 560,&#10;        background: 'radial-gradient(circle, rgba(232,179,75,0.13) 0%, rgba(232,179,75,0) 70%)',&#10;    }} /&gt;&#10;&#10;    {/* A 区 · 标题块 */}&#10;    &lt;Box style={{ height: 120, paddingLeft: 96, paddingRight: 96, paddingTop: 20, justifyContent: 'center' }}&gt;&#10;        &lt;Text style={{ fontSize: 36, fontWeight: 'bold', color: '#f5f2e9' }}&gt;交付了什么&lt;/Text&gt;&#10;    &lt;/Box&gt;&#10;&#10;    {/* B 区 · 内容区 */}&#10;    &lt;Box style={{&#10;        position: 'relative', zIndex: 1,&#10;        height: 540, paddingLeft: 96, paddingRight: 96,&#10;        flexDirection: 'row', gap: 52, alignItems: 'center',&#10;    }}&gt;&#10;&#10;        {/* 左：巨型数字 + 洞察 */}&#10;        &lt;Box style={{ flex: 1, flexDirection: 'column' }}&gt;&#10;&#10;            &lt;Box style={{ flexDirection: 'row', alignItems: 'flex-end', gap: 18 }}&gt;&#10;                &lt;Text style={{ fontSize: 120, fontWeight: 'bold', color: '#e8b34b', lineHeight: 1, letterSpacing: -6 }}&gt;&#10;                    2&#10;                &lt;/Text&gt;&#10;                &lt;Text style={{ fontSize: 26, fontWeight: 600, color: '#f5f2e9', paddingBottom: 22 }}&gt;&#10;                    个平台，真的能装&#10;                &lt;/Text&gt;&#10;            &lt;/Box&gt;&#10;&#10;            &lt;Text style={{ fontSize: 17, color: 'rgba(245,242,233,0.58)', lineHeight: 1.8, marginTop: 10 }}&gt;&#10;                Windows 与 macOS 的安装包都已交付，老师双击即用，&#10;                &lt;br /&gt;&#10;                不出现终端、不出现英文报错。能在两个平台都装起来、打开、&#10;                &lt;br /&gt;&#10;                用起来——这一条就把大多数参赛项目挡在门外。&#10;            &lt;/Text&gt;&#10;&#10;            &lt;Box style={{ height: 1, background: 'rgba(245,242,233,0.14)', marginTop: 26, marginBottom: 22 }} /&gt;&#10;&#10;            &lt;Box style={{ flexDirection: 'row', gap: 52 }}&gt;&#10;                &lt;Box style={{ flexDirection: 'column', gap: 4 }}&gt;&#10;                    &lt;Text style={{ fontSize: 40, fontWeight: 'bold', color: '#f5f2e9', lineHeight: 1.1 }}&gt;21&lt;/Text&gt;&#10;                    &lt;Text style={{ fontSize: 14, color: 'rgba(245,242,233,0.48)' }}&gt;自研插件&lt;/Text&gt;&#10;                &lt;/Box&gt;&#10;                &lt;Box style={{ flexDirection: 'column', gap: 4 }}&gt;&#10;                    &lt;Text style={{ fontSize: 40, fontWeight: 'bold', color: '#f5f2e9', lineHeight: 1.1 }}&gt;33&lt;/Text&gt;&#10;                    &lt;Text style={{ fontSize: 14, color: 'rgba(245,242,233,0.48)' }}&gt;册教材入本地库&lt;/Text&gt;&#10;                &lt;/Box&gt;&#10;                &lt;Box style={{ flexDirection: 'column', gap: 4 }}&gt;&#10;                    &lt;Text style={{ fontSize: 40, fontWeight: 'bold', color: '#f5f2e9', lineHeight: 1.1 }}&gt;461&lt;/Text&gt;&#10;                    &lt;Text style={{ fontSize: 14, color: 'rgba(245,242,233,0.48)' }}&gt;个构建文件受哈希守护&lt;/Text&gt;&#10;                &lt;/Box&gt;&#10;            &lt;/Box&gt;&#10;&#10;        &lt;/Box&gt;&#10;&#10;        {/* 右：小图（L2 支撑） */}&#10;        &lt;Box style={{ width: 372, flexDirection: 'column', gap: 12 }}&gt;&#10;            &lt;Box style={{&#10;                width: 372, height: 209,&#10;                borderRadius: 12, overflow: 'hidden',&#10;                border: '1px solid rgba(245,242,233,0.14)',&#10;                boxShadow: '0 8px 32px rgba(0,0,0,0.35)',&#10;            }}&gt;&#10;                &lt;Image src=&quot;assets/ui-campus.png&quot; style={{ width: 372, height: 209, objectFit: 'cover' }} /&gt;&#10;            &lt;/Box&gt;&#10;            &lt;Text style={{ fontSize: 14, color: 'rgba(245,242,233,0.4)', lineHeight: 1.5 }}&gt;&#10;                真实界面：班主任的待办台——交付的不只是一段对话&#10;            &lt;/Text&gt;&#10;        &lt;/Box&gt;&#10;&#10;    &lt;/Box&gt;&#10;&#10;    {/* C 区 · 页脚条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14 / 1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14400" y="457200"/>
            <a:ext cx="1036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5F2E9"/>
                </a:solidFill>
                <a:latin typeface="Microsoft YaHei"/>
                <a:ea typeface="Microsoft YaHei"/>
              </a:rPr>
              <a:t>交付了什么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1143000" y="762000"/>
            <a:ext cx="6858000" cy="5334000"/>
          </a:xfrm>
          <a:prstGeom prst="rect">
            <a:avLst/>
          </a:prstGeom>
          <a:gradFill>
            <a:gsLst>
              <a:gs pos="0">
                <a:srgbClr val="E8B34B">
                  <a:alpha val="13000"/>
                </a:srgbClr>
              </a:gs>
              <a:gs pos="70000">
                <a:srgbClr val="E8B34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14 / 17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14400" y="1866900"/>
            <a:ext cx="5810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 spc="-450">
                <a:solidFill>
                  <a:srgbClr val="E8B34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666875" y="2724150"/>
            <a:ext cx="1981200" cy="514350"/>
          </a:xfrm>
          <a:prstGeom prst="rect"/>
        </p:spPr>
        <p:txBody>
          <a:bodyPr wrap="none" lIns="0" tIns="0" rIns="0" bIns="157163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5F2E9"/>
                </a:solidFill>
                <a:latin typeface="Microsoft YaHei"/>
                <a:ea typeface="Microsoft YaHei"/>
              </a:rPr>
              <a:t>个平台，真的能装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14400" y="3333750"/>
            <a:ext cx="6324600" cy="1057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Windows </a:t>
            </a:r>
            <a:r>
              <a:rPr lang="zh-CN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 macOS </a:t>
            </a:r>
            <a:r>
              <a:rPr lang="zh-CN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的安装包都已交付，老师双击即用，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不出现终端、不出现英文报错。能在两个平台都装起来、打开、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用起来——这一条就把大多数参赛项目挡在门外。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914400" y="4638675"/>
            <a:ext cx="6324600" cy="9525"/>
          </a:xfrm>
          <a:prstGeom prst="rect">
            <a:avLst/>
          </a:prstGeom>
          <a:solidFill>
            <a:srgbClr val="F5F2E9">
              <a:alpha val="14000"/>
            </a:srgbClr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14400" y="4857750"/>
            <a:ext cx="5334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5F2E9"/>
                </a:solidFill>
                <a:latin typeface="Microsoft YaHei"/>
                <a:ea typeface="Microsoft YaHei"/>
              </a:rPr>
              <a:t>21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14400" y="54006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F2E9">
                    <a:alpha val="48000"/>
                  </a:srgbClr>
                </a:solidFill>
                <a:latin typeface="Microsoft YaHei"/>
                <a:ea typeface="Microsoft YaHei"/>
              </a:rPr>
              <a:t>自研插件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943100" y="4857750"/>
            <a:ext cx="93345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5F2E9"/>
                </a:solidFill>
                <a:latin typeface="Microsoft YaHei"/>
                <a:ea typeface="Microsoft YaHei"/>
              </a:rPr>
              <a:t>33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943100" y="54006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F2E9">
                    <a:alpha val="48000"/>
                  </a:srgbClr>
                </a:solidFill>
                <a:latin typeface="Microsoft YaHei"/>
                <a:ea typeface="Microsoft YaHei"/>
              </a:rPr>
              <a:t>册教材入本地库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371850" y="4857750"/>
            <a:ext cx="13335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5F2E9"/>
                </a:solidFill>
                <a:latin typeface="Microsoft YaHei"/>
                <a:ea typeface="Microsoft YaHei"/>
              </a:rPr>
              <a:t>461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371850" y="54006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F2E9">
                    <a:alpha val="48000"/>
                  </a:srgbClr>
                </a:solidFill>
                <a:latin typeface="Microsoft YaHei"/>
                <a:ea typeface="Microsoft YaHei"/>
              </a:rPr>
              <a:t>个构建文件受哈希守护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7734300" y="2543175"/>
            <a:ext cx="3543300" cy="1990725"/>
          </a:xfrm>
          <a:prstGeom prst="roundRect">
            <a:avLst>
              <a:gd name="adj" fmla="val 5742"/>
            </a:avLst>
          </a:prstGeom>
          <a:ln w="12700">
            <a:solidFill>
              <a:srgbClr val="F5F2E9">
                <a:alpha val="14000"/>
              </a:srgbClr>
            </a:solidFill>
            <a:prstDash val="solid"/>
          </a:ln>
          <a:effectLst>
            <a:outerShdw blurRad="304800" dist="762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99" name=""/>
          <p:cNvPicPr>
            <a:picLocks noChangeAspect="1"/>
          </p:cNvPicPr>
          <p:nvPr/>
        </p:nvPicPr>
        <p:blipFill>
          <a:blip r:embed="rId1"/>
          <a:srcRect l="0" t="59" r="0" b="59"/>
          <a:stretch>
            <a:fillRect/>
          </a:stretch>
        </p:blipFill>
        <p:spPr>
          <a:xfrm rot="0" flipH="0" flipV="0">
            <a:off x="7734300" y="2543175"/>
            <a:ext cx="3543300" cy="1990725"/>
          </a:xfrm>
          <a:custGeom>
            <a:pathLst>
              <a:path w="372" h="209">
                <a:moveTo>
                  <a:pt x="360" y="0"/>
                </a:moveTo>
                <a:cubicBezTo>
                  <a:pt x="367" y="0"/>
                  <a:pt x="372" y="5"/>
                  <a:pt x="372" y="12"/>
                </a:cubicBezTo>
                <a:lnTo>
                  <a:pt x="372" y="197"/>
                </a:lnTo>
                <a:cubicBezTo>
                  <a:pt x="372" y="204"/>
                  <a:pt x="367" y="209"/>
                  <a:pt x="360" y="209"/>
                </a:cubicBezTo>
                <a:lnTo>
                  <a:pt x="12" y="209"/>
                </a:lnTo>
                <a:cubicBezTo>
                  <a:pt x="5" y="209"/>
                  <a:pt x="0" y="204"/>
                  <a:pt x="0" y="197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360" y="0"/>
                </a:lnTo>
                <a:close/>
              </a:path>
            </a:pathLst>
          </a:custGeom>
          <a:ln/>
        </p:spPr>
      </p:pic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734300" y="4648200"/>
            <a:ext cx="3543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5F2E9">
                    <a:alpha val="40000"/>
                  </a:srgbClr>
                </a:solidFill>
                <a:latin typeface="Microsoft YaHei"/>
                <a:ea typeface="Microsoft YaHei"/>
              </a:rPr>
              <a:t>真实界面：班主任的待办台——交付的不只是一段对话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01" name="" descr="&lt;Slide style={{ width: 1280, height: 720, background: '#16211d', position: 'relative', overflow: 'hidden' }}&gt;&#10;&#10;    {/* 背景柔光 */}&#10;    &lt;Box style={{&#10;        position: 'absolute', right: -80, top: 140, width: 620, height: 620,&#10;        background: 'radial-gradient(circle, rgba(232,179,75,0.12) 0%, rgba(232,179,75,0) 70%)',&#10;    }} /&gt;&#10;&#10;    &lt;Box style={{&#10;        position: 'relative', zIndex: 1,&#10;        width: 1280, height: 720,&#10;        paddingLeft: 96, paddingRight: 96, paddingTop: 72, paddingBottom: 60,&#10;        flexDirection: 'row', gap: 76,&#10;    }}&gt;&#10;&#10;        {/* 左窄栏 · 标题块 */}&#10;        &lt;Box style={{ width: 320, flexDirection: 'column', gap: 18, justifyContent: 'center' }}&gt;&#10;            &lt;Text style={{ fontSize: 14, color: '#e8b34b', letterSpacing: 5 }}&gt;自证&lt;/Text&gt;&#10;            &lt;Text style={{ fontSize: 44, fontWeight: 'bold', color: '#f5f2e9', lineHeight: 1.2 }}&gt;&#10;                它不只是&#10;                &lt;br /&gt;&#10;                回答问题&#10;            &lt;/Text&gt;&#10;            &lt;Box style={{ width: 56, height: 3, background: '#e8b34b', borderRadius: 2 }} /&gt;&#10;            &lt;Text style={{ fontSize: 16, color: 'rgba(245,242,233,0.5)', lineHeight: 1.8 }}&gt;&#10;                一个 AI 产品最有说服力的证据，&#10;                不是它的参数，是它自己做出来的东西。&#10;            &lt;/Text&gt;&#10;        &lt;/Box&gt;&#10;&#10;        {/* 右内容 */}&#10;        &lt;Box style={{ flex: 1, flexDirection: 'column', gap: 22, justifyContent: 'center' }}&gt;&#10;&#10;            &lt;Text style={{ fontSize: 30, fontWeight: 600, color: '#f5f2e9', lineHeight: 1.4 }}&gt;&#10;                它会交东西&#10;            &lt;/Text&gt;&#10;&#10;            &lt;Text style={{ fontSize: 17, color: 'rgba(245,242,233,0.58)', lineHeight: 1.85 }}&gt;&#10;                老师说要一份课件、一份周报、一张成绩分析表，&#10;                Mochi 交回来的不是一段文字描述，而是一个能打开、能继续改的文件。&#10;                文件存在本机会话工作区里，老师随时能拿到。&#10;            &lt;/Text&gt;&#10;&#10;            &lt;Box style={{ height: 1, background: 'rgba(245,242,233,0.14)' }} /&gt;&#10;&#10;            &lt;Box style={{ flexDirection: 'row', gap: 22 }}&gt;&#10;&#10;                &lt;Box style={{&#10;                    flex: 1, flexDirection: 'column', gap: 10,&#10;                    background: 'rgba(245,242,233,0.05)',&#10;                    border: '1px solid rgba(245,242,233,0.12)',&#10;                    borderRadius: 10, padding: 22,&#10;                }}&gt;&#10;                    &lt;Text style={{ fontSize: 19, fontWeight: 600, color: '#f5f2e9' }}&gt;文档与表格&lt;/Text&gt;&#10;                    &lt;Text style={{ fontSize: 15, color: 'rgba(245,242,233,0.55)', lineHeight: 1.7 }}&gt;&#10;                        可编辑的 Word 与 Excel，写进真实文件、落在工作区，&#10;                        不是&quot;复制这段文字自己去粘&quot;。&#10;                    &lt;/Text&gt;&#10;                &lt;/Box&gt;&#10;&#10;                &lt;Box style={{&#10;                    flex: 1, flexDirection: 'column', gap: 10,&#10;                    background: 'rgba(245,242,233,0.05)',&#10;                    border: '1px solid rgba(245,242,233,0.12)',&#10;                    borderRadius: 10, padding: 22,&#10;                }}&gt;&#10;                    &lt;Text style={{ fontSize: 19, fontWeight: 600, color: '#f5f2e9' }}&gt;课件&lt;/Text&gt;&#10;                    &lt;Text style={{ fontSize: 15, color: 'rgba(245,242,233,0.55)', lineHeight: 1.7 }}&gt;&#10;                        真 PPTX，支持&quot;改第 X 页&quot;这种局部修改——&#10;                        保留旧版、写入新目录，不用整套重做。&#10;                    &lt;/Text&gt;&#10;                &lt;/Box&gt;&#10;&#10;            &lt;/Box&gt;&#10;&#10;            &lt;Text style={{ fontSize: 15, color: 'rgba(232,179,75,0.85)', lineHeight: 1.7 }}&gt;&#10;                ※ 现场将展示一份由 Mochi 自己生成的产物。&#10;            &lt;/Text&gt;&#10;&#10;        &lt;/Box&gt;&#10;    &lt;/Box&gt;&#10;&#10;    {/* C 区 · 页脚条 */}&#10;    &lt;Box style={{&#10;        position: 'absolute', bottom: 0, left: 0, width: 1280, height: 60,&#10;        paddingLeft: 96, paddingRight: 96,&#10;        flexDirection: 'row', alignItems: 'center', justifyContent: 'space-between',&#10;    }}&gt;&#10;        &lt;Box style={{ flexDirection: 'row', alignItems: 'center', gap: 10 }}&gt;&#10;            &lt;Box style={{ width: 10, height: 10, borderRadius: 5, background: '#e8b34b' }} /&gt;&#10;            &lt;Text style={{ fontSize: 14, color: 'rgba(245,242,233,0.45)' }}&gt;Mochi · 嘉祥教育集团 AI 创意实践大赛&lt;/Text&gt;&#10;        &lt;/Box&gt;&#10;        &lt;Text style={{ fontSize: 14, color: 'rgba(245,242,233,0.45)' }}&gt;15 / 1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7048500" y="1333500"/>
            <a:ext cx="5905500" cy="5905500"/>
          </a:xfrm>
          <a:custGeom>
            <a:pathLst>
              <a:path w="620" h="620">
                <a:moveTo>
                  <a:pt x="540" y="580"/>
                </a:moveTo>
                <a:lnTo>
                  <a:pt x="0" y="580"/>
                </a:lnTo>
                <a:lnTo>
                  <a:pt x="0" y="0"/>
                </a:lnTo>
                <a:lnTo>
                  <a:pt x="540" y="0"/>
                </a:lnTo>
                <a:close/>
              </a:path>
            </a:pathLst>
          </a:custGeom>
          <a:gradFill>
            <a:gsLst>
              <a:gs pos="0">
                <a:srgbClr val="E8B34B">
                  <a:alpha val="12000"/>
                </a:srgbClr>
              </a:gs>
              <a:gs pos="70000">
                <a:srgbClr val="E8B34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914400" y="6534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04900" y="649605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Mochi ·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创意实践大赛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F2E9">
                    <a:alpha val="45000"/>
                  </a:srgbClr>
                </a:solidFill>
                <a:latin typeface="Microsoft YaHei"/>
                <a:ea typeface="Microsoft YaHei"/>
              </a:rPr>
              <a:t>15 / 17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14400" y="22002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75">
                <a:solidFill>
                  <a:srgbClr val="E8B34B"/>
                </a:solidFill>
                <a:latin typeface="Microsoft YaHei"/>
                <a:ea typeface="Microsoft YaHei"/>
              </a:rPr>
              <a:t>自证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914400" y="2533650"/>
            <a:ext cx="3048000" cy="1209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5F2E9"/>
                </a:solidFill>
                <a:latin typeface="Microsoft YaHei"/>
                <a:ea typeface="Microsoft YaHei"/>
              </a:rPr>
              <a:t>它不只是</a:t>
            </a:r>
            <a:endParaRPr/>
          </a:p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5F2E9"/>
                </a:solidFill>
                <a:latin typeface="Microsoft YaHei"/>
                <a:ea typeface="Microsoft YaHei"/>
              </a:rPr>
              <a:t>回答问题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914400" y="3914775"/>
            <a:ext cx="533400" cy="28575"/>
          </a:xfrm>
          <a:prstGeom prst="roundRect">
            <a:avLst>
              <a:gd name="adj" fmla="val 66667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14400" y="4114800"/>
            <a:ext cx="3048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一个</a:t>
            </a: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产品最有说服力的证据，</a:t>
            </a: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不是它的参数，是它自己做出来的东西。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686300" y="1504950"/>
            <a:ext cx="65913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5F2E9"/>
                </a:solidFill>
                <a:latin typeface="Microsoft YaHei"/>
                <a:ea typeface="Microsoft YaHei"/>
              </a:rPr>
              <a:t>它会交东西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686300" y="2200275"/>
            <a:ext cx="65913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老师说要一份课件、一份周报、一张成绩分析表，</a:t>
            </a:r>
            <a:r>
              <a:rPr lang="en-US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 Mochi </a:t>
            </a:r>
            <a:r>
              <a:rPr lang="zh-CN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交回来的不是一段文字描述，而是一个能打开、能继续改的文件。</a:t>
            </a:r>
            <a:r>
              <a:rPr lang="en-US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F5F2E9">
                    <a:alpha val="58000"/>
                  </a:srgbClr>
                </a:solidFill>
                <a:latin typeface="Microsoft YaHei"/>
                <a:ea typeface="Microsoft YaHei"/>
              </a:rPr>
              <a:t>文件存在本机会话工作区里，老师随时能拿到。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4686300" y="3133725"/>
            <a:ext cx="6591300" cy="9525"/>
          </a:xfrm>
          <a:prstGeom prst="rect">
            <a:avLst/>
          </a:prstGeom>
          <a:solidFill>
            <a:srgbClr val="F5F2E9">
              <a:alpha val="14000"/>
            </a:srgbClr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4686300" y="3352800"/>
            <a:ext cx="3190875" cy="1609725"/>
          </a:xfrm>
          <a:prstGeom prst="roundRect">
            <a:avLst>
              <a:gd name="adj" fmla="val 5917"/>
            </a:avLst>
          </a:prstGeom>
          <a:solidFill>
            <a:srgbClr val="F5F2E9">
              <a:alpha val="5000"/>
            </a:srgbClr>
          </a:solidFill>
          <a:ln w="12700">
            <a:solidFill>
              <a:srgbClr val="F5F2E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895850" y="3562350"/>
            <a:ext cx="2771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文档与表格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895850" y="3876675"/>
            <a:ext cx="27717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可编辑的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Word 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Excel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，写进真实文件、落在工作区，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不是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复制这段文字自己去粘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086725" y="3352800"/>
            <a:ext cx="3190875" cy="1609725"/>
          </a:xfrm>
          <a:prstGeom prst="roundRect">
            <a:avLst>
              <a:gd name="adj" fmla="val 5917"/>
            </a:avLst>
          </a:prstGeom>
          <a:solidFill>
            <a:srgbClr val="F5F2E9">
              <a:alpha val="5000"/>
            </a:srgbClr>
          </a:solidFill>
          <a:ln w="12700">
            <a:solidFill>
              <a:srgbClr val="F5F2E9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296275" y="3562350"/>
            <a:ext cx="2771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F2E9"/>
                </a:solidFill>
                <a:latin typeface="Microsoft YaHei"/>
                <a:ea typeface="Microsoft YaHei"/>
              </a:rPr>
              <a:t>课件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296275" y="3876675"/>
            <a:ext cx="27717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真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PPTX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，支持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改第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X 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页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这种局部修改——</a:t>
            </a:r>
            <a:r>
              <a:rPr lang="en-US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保留旧版、写入新目录，不用整套重做。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686300" y="5172075"/>
            <a:ext cx="65913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E8B34B">
                    <a:alpha val="85000"/>
                  </a:srgbClr>
                </a:solidFill>
                <a:latin typeface="Microsoft YaHei"/>
                <a:ea typeface="Microsoft YaHei"/>
              </a:rPr>
              <a:t>※ </a:t>
            </a:r>
            <a:r>
              <a:rPr lang="zh-CN" sz="1125">
                <a:solidFill>
                  <a:srgbClr val="E8B34B">
                    <a:alpha val="85000"/>
                  </a:srgbClr>
                </a:solidFill>
                <a:latin typeface="Microsoft YaHei"/>
                <a:ea typeface="Microsoft YaHei"/>
              </a:rPr>
              <a:t>现场将展示一份由</a:t>
            </a:r>
            <a:r>
              <a:rPr lang="en-US" sz="1125">
                <a:solidFill>
                  <a:srgbClr val="E8B34B">
                    <a:alpha val="85000"/>
                  </a:srgbClr>
                </a:solidFill>
                <a:latin typeface="Microsoft YaHei"/>
                <a:ea typeface="Microsoft YaHei"/>
              </a:rPr>
              <a:t> Mochi </a:t>
            </a:r>
            <a:r>
              <a:rPr lang="zh-CN" sz="1125">
                <a:solidFill>
                  <a:srgbClr val="E8B34B">
                    <a:alpha val="85000"/>
                  </a:srgbClr>
                </a:solidFill>
                <a:latin typeface="Microsoft YaHei"/>
                <a:ea typeface="Microsoft YaHei"/>
              </a:rPr>
              <a:t>自己生成的产物。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1" name="" descr="&lt;Slide style={{ width: 1280, height: 720, background: '#16211d', position: 'relative', overflow: 'hidden' }}&gt;&#10;&#10;    {/* 背景同心弧 */}&#10;    &lt;Box style={{ position: 'absolute', left: 340, top: 60, width: 600, height: 600 }}&gt;&#10;        &lt;svg width={600} height={600} viewBox='0 0 600 600'&gt;&#10;            &lt;circle cx='300' cy='300' r='180' fill='none' stroke='rgba(232,179,75,0.10)' strokeWidth='1' /&gt;&#10;            &lt;circle cx='300' cy='300' r='250' fill='none' stroke='rgba(232,179,75,0.06)' strokeWidth='1' /&gt;&#10;            &lt;circle cx='300' cy='300' r='290' fill='none' stroke='rgba(232,179,75,0.03)' strokeWidth='1' /&gt;&#10;        &lt;/svg&gt;&#10;    &lt;/Box&gt;&#10;&#10;    &lt;Box style={{&#10;        position: 'relative', zIndex: 1,&#10;        width: 1280, height: 720,&#10;        paddingLeft: 96, paddingRight: 96,&#10;        alignItems: 'center', justifyContent: 'center', gap: 26,&#10;    }}&gt;&#10;&#10;        &lt;Text style={{ fontSize: 15, color: '#e8b34b', letterSpacing: 6 }}&gt;现场演示&lt;/Text&gt;&#10;&#10;        &lt;Text style={{ fontSize: 56, fontWeight: 'bold', color: '#f5f2e9', lineHeight: 1.25, textAlign: 'center' }}&gt;&#10;            接下来，把讲台交给它&#10;        &lt;/Text&gt;&#10;&#10;        &lt;Box style={{ width: 72, height: 3, background: '#e8b34b', borderRadius: 2, marginTop: 4, marginBottom: 10 }} /&gt;&#10;&#10;        &lt;Box style={{ flexDirection: 'row', gap: 40, alignItems: 'center' }}&gt;&#10;            &lt;Text style={{ fontSize: 19, color: 'rgba(245,242,233,0.62)' }}&gt;校园传话&lt;/Text&gt;&#10;            &lt;Box style={{ width: 4, height: 4, borderRadius: 2, background: 'rgba(232,179,75,0.6)' }} /&gt;&#10;            &lt;Text style={{ fontSize: 19, color: 'rgba(245,242,233,0.62)' }}&gt;课件二次编辑&lt;/Text&gt;&#10;            &lt;Box style={{ width: 4, height: 4, borderRadius: 2, background: 'rgba(232,179,75,0.6)' }} /&gt;&#10;            &lt;Text style={{ fontSize: 19, color: 'rgba(245,242,233,0.62)' }}&gt;成绩分析&lt;/Text&gt;&#10;            &lt;Box style={{ width: 4, height: 4, borderRadius: 2, background: 'rgba(232,179,75,0.6)' }} /&gt;&#10;            &lt;Text style={{ fontSize: 19, color: 'rgba(245,242,233,0.62)' }}&gt;教学建模&lt;/Text&gt;&#10;            &lt;Box style={{ width: 4, height: 4, borderRadius: 2, background: 'rgba(232,179,75,0.6)' }} /&gt;&#10;            &lt;Text style={{ fontSize: 19, color: 'rgba(245,242,233,0.62)' }}&gt;对话内审批&lt;/Text&gt;&#10;        &lt;/Box&gt;&#10;&#10;        &lt;Text style={{ fontSize: 15, color: 'rgba(245,242,233,0.36)', marginTop: 14 }}&gt;&#10;            本环节由小组同学现场讲解与操作&#10;        &lt;/Text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pic>
        <p:nvPicPr>
          <p:cNvPr id="1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238500" y="571500"/>
            <a:ext cx="5715000" cy="5715000"/>
          </a:xfrm>
          <a:prstGeom prst="rect">
            <a:avLst/>
          </a:prstGeom>
          <a:ln/>
        </p:spPr>
      </p:pic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695950" y="2105025"/>
            <a:ext cx="80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450">
                <a:solidFill>
                  <a:srgbClr val="E8B34B"/>
                </a:solidFill>
                <a:latin typeface="Microsoft YaHei"/>
                <a:ea typeface="Microsoft YaHei"/>
              </a:rPr>
              <a:t>现场演示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429000" y="2524125"/>
            <a:ext cx="5334000" cy="8001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200" b="1">
                <a:solidFill>
                  <a:srgbClr val="F5F2E9"/>
                </a:solidFill>
                <a:latin typeface="Microsoft YaHei"/>
                <a:ea typeface="Microsoft YaHei"/>
              </a:rPr>
              <a:t>接下来，把讲台交给它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753100" y="3609975"/>
            <a:ext cx="685800" cy="28575"/>
          </a:xfrm>
          <a:prstGeom prst="roundRect">
            <a:avLst>
              <a:gd name="adj" fmla="val 66667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2419350" y="39814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校园传话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3524250" y="40767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E8B34B">
              <a:alpha val="60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943350" y="398145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课件二次编辑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410200" y="40767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E8B34B">
              <a:alpha val="60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829300" y="39814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成绩分析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934200" y="40767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E8B34B">
              <a:alpha val="60000"/>
            </a:srgbClr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353300" y="39814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教学建模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8458200" y="40767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E8B34B">
              <a:alpha val="60000"/>
            </a:srgbClr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877300" y="398145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5F2E9">
                    <a:alpha val="62000"/>
                  </a:srgbClr>
                </a:solidFill>
                <a:latin typeface="Microsoft YaHei"/>
                <a:ea typeface="Microsoft YaHei"/>
              </a:rPr>
              <a:t>对话内审批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029200" y="4581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F2E9">
                    <a:alpha val="36000"/>
                  </a:srgbClr>
                </a:solidFill>
                <a:latin typeface="Microsoft YaHei"/>
                <a:ea typeface="Microsoft YaHei"/>
              </a:rPr>
              <a:t>本环节由小组同学现场讲解与操作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 descr="&lt;Slide style={{ width: 1280, height: 720, background: '#16211d', position: 'relative', overflow: 'hidden' }}&gt;&#10;&#10;    {/* 全幅界面柔焦铺底 */}&#10;    &lt;Image&#10;        src=&quot;assets/ui-home.png&quot;&#10;        style={{&#10;            position: 'absolute', top: 0, left: 0, width: 1280, height: 720,&#10;            objectFit: 'cover', filter: 'blur(4px)', opacity: 0.42,&#10;        }}&#10;    /&gt;&#10;&#10;    {/* 深绿蒙版 */}&#10;    &lt;Box style={{&#10;        position: 'absolute', top: 0, left: 0, width: 1280, height: 720,&#10;        background: 'linear-gradient(120deg, rgba(22,33,29,0.94) 0%, rgba(22,33,29,0.86) 55%, rgba(22,33,29,0.70) 100%)',&#10;    }} /&gt;&#10;&#10;    {/* 内容层 */}&#10;    &lt;Box style={{&#10;        position: 'relative', zIndex: 1,&#10;        width: 1280, height: 720,&#10;        paddingLeft: 96, paddingRight: 96, paddingTop: 96, paddingBottom: 72,&#10;        justifyContent: 'space-between',&#10;    }}&gt;&#10;&#10;        &lt;Box style={{ flexDirection: 'row', alignItems: 'center', gap: 12 }}&gt;&#10;            &lt;Box style={{ width: 10, height: 10, borderRadius: 5, background: '#e8b34b' }} /&gt;&#10;            &lt;Text style={{ fontSize: 16, color: 'rgba(245,242,233,0.55)', letterSpacing: 2 }}&gt;&#10;                嘉祥教育集团 AI 创意实践大赛 · 高中组&#10;            &lt;/Text&gt;&#10;        &lt;/Box&gt;&#10;&#10;        &lt;Box style={{ flexDirection: 'column', gap: 24, width: 820 }}&gt;&#10;            &lt;Text style={{ fontSize: 64, fontWeight: 'bold', color: '#f5f2e9', lineHeight: 1.22, letterSpacing: -1 }}&gt;&#10;                让老师，&#10;                &lt;br /&gt;&#10;                把时间还给教学&#10;            &lt;/Text&gt;&#10;            &lt;Box style={{ width: 88, height: 4, background: '#e8b34b', borderRadius: 2 }} /&gt;&#10;            &lt;Text style={{ fontSize: 19, color: 'rgba(245,242,233,0.6)', lineHeight: 1.8 }}&gt;&#10;                校园里那些必须有人做的事，交给我们做的那部分去跑；&#10;                &lt;br /&gt;&#10;                老师只做只有老师能做的事。&#10;            &lt;/Text&gt;&#10;        &lt;/Box&gt;&#10;&#10;        &lt;Box style={{ flexDirection: 'row', alignItems: 'center', gap: 28 }}&gt;&#10;            &lt;Text style={{ fontSize: 20, fontWeight: 600, color: '#f5f2e9' }}&gt;Mochi&lt;/Text&gt;&#10;            &lt;Box style={{ width: 1, height: 14, background: 'rgba(245,242,233,0.22)' }} /&gt;&#10;            &lt;Text style={{ fontSize: 16, color: 'rgba(245,242,233,0.5)' }}&gt;&#10;                跑在校园里的 Agent 协作网络&#10;            &lt;/Text&gt;&#10;            &lt;Box style={{ width: 1, height: 14, background: 'rgba(245,242,233,0.22)' }} /&gt;&#10;            &lt;Text style={{ fontSize: 16, color: 'rgba(245,242,233,0.5)' }}&gt;&#10;                2026 年 9 月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11D"/>
          </a:solidFill>
          <a:ln/>
        </p:spPr>
        <p:txBody>
          <a:bodyPr/>
          <a:p/>
        </p:txBody>
      </p:sp>
      <p:pic>
        <p:nvPicPr>
          <p:cNvPr id="139" name=""/>
          <p:cNvPicPr>
            <a:picLocks noChangeAspect="1"/>
          </p:cNvPicPr>
          <p:nvPr/>
        </p:nvPicPr>
        <p:blipFill>
          <a:blip r:embed="rId1">
            <a:alphaModFix amt="4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11D">
                  <a:alpha val="94000"/>
                </a:srgbClr>
              </a:gs>
              <a:gs pos="55000">
                <a:srgbClr val="16211D">
                  <a:alpha val="86000"/>
                </a:srgbClr>
              </a:gs>
              <a:gs pos="100000">
                <a:srgbClr val="16211D">
                  <a:alpha val="70000"/>
                </a:srgbClr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914400" y="962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23950" y="91440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嘉祥教育集团</a:t>
            </a:r>
            <a:r>
              <a:rPr lang="en-US" sz="1200" spc="15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AI </a:t>
            </a:r>
            <a:r>
              <a:rPr lang="zh-CN" sz="1200" spc="15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创意实践大赛</a:t>
            </a:r>
            <a:r>
              <a:rPr lang="en-US" sz="1200" spc="15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150">
                <a:solidFill>
                  <a:srgbClr val="F5F2E9">
                    <a:alpha val="55000"/>
                  </a:srgbClr>
                </a:solidFill>
                <a:latin typeface="Microsoft YaHei"/>
                <a:ea typeface="Microsoft YaHei"/>
              </a:rPr>
              <a:t>高中组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914400" y="1990725"/>
            <a:ext cx="7810500" cy="17907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800" b="1" spc="-75">
                <a:solidFill>
                  <a:srgbClr val="F5F2E9"/>
                </a:solidFill>
                <a:latin typeface="Microsoft YaHei"/>
                <a:ea typeface="Microsoft YaHei"/>
              </a:rPr>
              <a:t>让老师，</a:t>
            </a:r>
            <a:endParaRPr/>
          </a:p>
          <a:p>
            <a:pPr>
              <a:lnSpc>
                <a:spcPct val="122000"/>
              </a:lnSpc>
            </a:pPr>
            <a:r>
              <a:rPr lang="zh-CN" sz="4800" b="1" spc="-75">
                <a:solidFill>
                  <a:srgbClr val="F5F2E9"/>
                </a:solidFill>
                <a:latin typeface="Microsoft YaHei"/>
                <a:ea typeface="Microsoft YaHei"/>
              </a:rPr>
              <a:t>把时间还给教学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914400" y="4010025"/>
            <a:ext cx="838200" cy="38100"/>
          </a:xfrm>
          <a:prstGeom prst="roundRect">
            <a:avLst>
              <a:gd name="adj" fmla="val 50000"/>
            </a:avLst>
          </a:prstGeom>
          <a:solidFill>
            <a:srgbClr val="E8B34B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14400" y="4276725"/>
            <a:ext cx="7810500" cy="7905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425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校园里那些必须有人做的事，交给我们做的那部分去跑；</a:t>
            </a:r>
            <a:endParaRPr/>
          </a:p>
          <a:p>
            <a:pPr>
              <a:lnSpc>
                <a:spcPct val="180000"/>
              </a:lnSpc>
            </a:pPr>
            <a:r>
              <a:rPr lang="zh-CN" sz="1425">
                <a:solidFill>
                  <a:srgbClr val="F5F2E9">
                    <a:alpha val="60000"/>
                  </a:srgbClr>
                </a:solidFill>
                <a:latin typeface="Microsoft YaHei"/>
                <a:ea typeface="Microsoft YaHei"/>
              </a:rPr>
              <a:t>老师只做只有老师能做的事。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14400" y="5943600"/>
            <a:ext cx="552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F2E9"/>
                </a:solidFill>
                <a:latin typeface="Microsoft YaHei"/>
                <a:ea typeface="Microsoft YaHei"/>
              </a:rPr>
              <a:t>Mochi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1733550" y="5991225"/>
            <a:ext cx="9525" cy="133350"/>
          </a:xfrm>
          <a:prstGeom prst="rect">
            <a:avLst/>
          </a:prstGeom>
          <a:solidFill>
            <a:srgbClr val="F5F2E9">
              <a:alpha val="22000"/>
            </a:srgbClr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009775" y="5962650"/>
            <a:ext cx="2009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跑在校园里的</a:t>
            </a: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Agent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协作网络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286250" y="5991225"/>
            <a:ext cx="9525" cy="133350"/>
          </a:xfrm>
          <a:prstGeom prst="rect">
            <a:avLst/>
          </a:prstGeom>
          <a:solidFill>
            <a:srgbClr val="F5F2E9">
              <a:alpha val="22000"/>
            </a:srgbClr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562475" y="5962650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F5F2E9">
                    <a:alpha val="50000"/>
                  </a:srgbClr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2026-09-12T16:04:22Z</dcterms:created>
  <dcterms:modified xsi:type="dcterms:W3CDTF">2026-09-12T16:04:22Z</dcterms:modified>
</cp:coreProperties>
</file>